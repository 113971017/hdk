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media/image18.jpg" ContentType="image/jpg"/>
  <Override PartName="/ppt/media/image19.jpg" ContentType="image/jpg"/>
  <Override PartName="/ppt/media/image20.jpg" ContentType="image/jpg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4"/>
  </p:notesMasterIdLst>
  <p:handoutMasterIdLst>
    <p:handoutMasterId r:id="rId55"/>
  </p:handoutMasterIdLst>
  <p:sldIdLst>
    <p:sldId id="319" r:id="rId5"/>
    <p:sldId id="349" r:id="rId6"/>
    <p:sldId id="346" r:id="rId7"/>
    <p:sldId id="394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4" r:id="rId23"/>
    <p:sldId id="365" r:id="rId24"/>
    <p:sldId id="366" r:id="rId25"/>
    <p:sldId id="367" r:id="rId26"/>
    <p:sldId id="368" r:id="rId27"/>
    <p:sldId id="369" r:id="rId28"/>
    <p:sldId id="370" r:id="rId29"/>
    <p:sldId id="371" r:id="rId30"/>
    <p:sldId id="372" r:id="rId31"/>
    <p:sldId id="373" r:id="rId32"/>
    <p:sldId id="374" r:id="rId33"/>
    <p:sldId id="375" r:id="rId34"/>
    <p:sldId id="376" r:id="rId35"/>
    <p:sldId id="377" r:id="rId36"/>
    <p:sldId id="378" r:id="rId37"/>
    <p:sldId id="379" r:id="rId38"/>
    <p:sldId id="380" r:id="rId39"/>
    <p:sldId id="381" r:id="rId40"/>
    <p:sldId id="382" r:id="rId41"/>
    <p:sldId id="383" r:id="rId42"/>
    <p:sldId id="384" r:id="rId43"/>
    <p:sldId id="385" r:id="rId44"/>
    <p:sldId id="386" r:id="rId45"/>
    <p:sldId id="387" r:id="rId46"/>
    <p:sldId id="388" r:id="rId47"/>
    <p:sldId id="389" r:id="rId48"/>
    <p:sldId id="390" r:id="rId49"/>
    <p:sldId id="391" r:id="rId50"/>
    <p:sldId id="392" r:id="rId51"/>
    <p:sldId id="393" r:id="rId52"/>
    <p:sldId id="299" r:id="rId53"/>
  </p:sldIdLst>
  <p:sldSz cx="9144000" cy="5143500" type="screen16x9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CF00FE-E8B6-4960-ABAA-553B1031B2D4}">
          <p14:sldIdLst>
            <p14:sldId id="319"/>
            <p14:sldId id="349"/>
            <p14:sldId id="346"/>
            <p14:sldId id="394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299"/>
          </p14:sldIdLst>
        </p14:section>
        <p14:section name="transition slides" id="{3E434BE1-C9B2-4701-A74B-40D78C3F7440}">
          <p14:sldIdLst/>
        </p14:section>
        <p14:section name="CHART/GRAPH Only" id="{A45BE216-D14E-414E-A788-D78BC47246A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1">
          <p15:clr>
            <a:srgbClr val="A4A3A4"/>
          </p15:clr>
        </p15:guide>
        <p15:guide id="2" pos="221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A30B35"/>
    <a:srgbClr val="A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57" autoAdjust="0"/>
  </p:normalViewPr>
  <p:slideViewPr>
    <p:cSldViewPr>
      <p:cViewPr varScale="1">
        <p:scale>
          <a:sx n="142" d="100"/>
          <a:sy n="142" d="100"/>
        </p:scale>
        <p:origin x="750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3570" y="78"/>
      </p:cViewPr>
      <p:guideLst>
        <p:guide orient="horz" pos="2931"/>
        <p:guide pos="221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Chiu-邱世淦" userId="339e5a29-ae66-4def-b227-8aa4ee7346c8" providerId="ADAL" clId="{88B24C7D-2D04-4924-A3C0-CB022750A9EF}"/>
    <pc:docChg chg="undo custSel modSld">
      <pc:chgData name="ThomasChiu-邱世淦" userId="339e5a29-ae66-4def-b227-8aa4ee7346c8" providerId="ADAL" clId="{88B24C7D-2D04-4924-A3C0-CB022750A9EF}" dt="2025-11-04T06:02:00.889" v="73" actId="1076"/>
      <pc:docMkLst>
        <pc:docMk/>
      </pc:docMkLst>
      <pc:sldChg chg="modSp mod">
        <pc:chgData name="ThomasChiu-邱世淦" userId="339e5a29-ae66-4def-b227-8aa4ee7346c8" providerId="ADAL" clId="{88B24C7D-2D04-4924-A3C0-CB022750A9EF}" dt="2025-11-03T07:13:12.813" v="1" actId="14734"/>
        <pc:sldMkLst>
          <pc:docMk/>
          <pc:sldMk cId="685689717" sldId="350"/>
        </pc:sldMkLst>
        <pc:graphicFrameChg chg="modGraphic">
          <ac:chgData name="ThomasChiu-邱世淦" userId="339e5a29-ae66-4def-b227-8aa4ee7346c8" providerId="ADAL" clId="{88B24C7D-2D04-4924-A3C0-CB022750A9EF}" dt="2025-11-03T07:13:12.813" v="1" actId="14734"/>
          <ac:graphicFrameMkLst>
            <pc:docMk/>
            <pc:sldMk cId="685689717" sldId="350"/>
            <ac:graphicFrameMk id="4" creationId="{884CD3E7-5A18-CFEF-CBE9-641FC668D84E}"/>
          </ac:graphicFrameMkLst>
        </pc:graphicFrameChg>
      </pc:sldChg>
      <pc:sldChg chg="modSp mod">
        <pc:chgData name="ThomasChiu-邱世淦" userId="339e5a29-ae66-4def-b227-8aa4ee7346c8" providerId="ADAL" clId="{88B24C7D-2D04-4924-A3C0-CB022750A9EF}" dt="2025-11-03T08:03:29.718" v="18" actId="207"/>
        <pc:sldMkLst>
          <pc:docMk/>
          <pc:sldMk cId="4158812942" sldId="353"/>
        </pc:sldMkLst>
        <pc:graphicFrameChg chg="modGraphic">
          <ac:chgData name="ThomasChiu-邱世淦" userId="339e5a29-ae66-4def-b227-8aa4ee7346c8" providerId="ADAL" clId="{88B24C7D-2D04-4924-A3C0-CB022750A9EF}" dt="2025-11-03T08:03:29.718" v="18" actId="207"/>
          <ac:graphicFrameMkLst>
            <pc:docMk/>
            <pc:sldMk cId="4158812942" sldId="353"/>
            <ac:graphicFrameMk id="4" creationId="{60A37334-FFA3-B7D7-97C2-54C7B426E4C6}"/>
          </ac:graphicFrameMkLst>
        </pc:graphicFrameChg>
      </pc:sldChg>
      <pc:sldChg chg="modSp mod">
        <pc:chgData name="ThomasChiu-邱世淦" userId="339e5a29-ae66-4def-b227-8aa4ee7346c8" providerId="ADAL" clId="{88B24C7D-2D04-4924-A3C0-CB022750A9EF}" dt="2025-11-03T07:46:59.848" v="12" actId="14734"/>
        <pc:sldMkLst>
          <pc:docMk/>
          <pc:sldMk cId="1451435340" sldId="367"/>
        </pc:sldMkLst>
        <pc:graphicFrameChg chg="modGraphic">
          <ac:chgData name="ThomasChiu-邱世淦" userId="339e5a29-ae66-4def-b227-8aa4ee7346c8" providerId="ADAL" clId="{88B24C7D-2D04-4924-A3C0-CB022750A9EF}" dt="2025-11-03T07:46:59.848" v="12" actId="14734"/>
          <ac:graphicFrameMkLst>
            <pc:docMk/>
            <pc:sldMk cId="1451435340" sldId="367"/>
            <ac:graphicFrameMk id="5" creationId="{F883D32E-2E20-1761-DAFA-D3B25E0C885E}"/>
          </ac:graphicFrameMkLst>
        </pc:graphicFrameChg>
      </pc:sldChg>
      <pc:sldChg chg="modSp mod">
        <pc:chgData name="ThomasChiu-邱世淦" userId="339e5a29-ae66-4def-b227-8aa4ee7346c8" providerId="ADAL" clId="{88B24C7D-2D04-4924-A3C0-CB022750A9EF}" dt="2025-11-03T09:14:31.812" v="43" actId="207"/>
        <pc:sldMkLst>
          <pc:docMk/>
          <pc:sldMk cId="195636189" sldId="371"/>
        </pc:sldMkLst>
        <pc:graphicFrameChg chg="modGraphic">
          <ac:chgData name="ThomasChiu-邱世淦" userId="339e5a29-ae66-4def-b227-8aa4ee7346c8" providerId="ADAL" clId="{88B24C7D-2D04-4924-A3C0-CB022750A9EF}" dt="2025-11-03T09:14:31.812" v="43" actId="207"/>
          <ac:graphicFrameMkLst>
            <pc:docMk/>
            <pc:sldMk cId="195636189" sldId="371"/>
            <ac:graphicFrameMk id="4" creationId="{84576E48-13FA-9D69-2B6B-53F7CE8F7D87}"/>
          </ac:graphicFrameMkLst>
        </pc:graphicFrameChg>
      </pc:sldChg>
      <pc:sldChg chg="modSp mod">
        <pc:chgData name="ThomasChiu-邱世淦" userId="339e5a29-ae66-4def-b227-8aa4ee7346c8" providerId="ADAL" clId="{88B24C7D-2D04-4924-A3C0-CB022750A9EF}" dt="2025-11-03T09:14:17.224" v="39" actId="207"/>
        <pc:sldMkLst>
          <pc:docMk/>
          <pc:sldMk cId="1239231274" sldId="372"/>
        </pc:sldMkLst>
        <pc:graphicFrameChg chg="modGraphic">
          <ac:chgData name="ThomasChiu-邱世淦" userId="339e5a29-ae66-4def-b227-8aa4ee7346c8" providerId="ADAL" clId="{88B24C7D-2D04-4924-A3C0-CB022750A9EF}" dt="2025-11-03T09:14:17.224" v="39" actId="207"/>
          <ac:graphicFrameMkLst>
            <pc:docMk/>
            <pc:sldMk cId="1239231274" sldId="372"/>
            <ac:graphicFrameMk id="5" creationId="{7B5016E4-88A8-060D-2B04-8990774E35C1}"/>
          </ac:graphicFrameMkLst>
        </pc:graphicFrameChg>
      </pc:sldChg>
      <pc:sldChg chg="modSp mod">
        <pc:chgData name="ThomasChiu-邱世淦" userId="339e5a29-ae66-4def-b227-8aa4ee7346c8" providerId="ADAL" clId="{88B24C7D-2D04-4924-A3C0-CB022750A9EF}" dt="2025-11-03T08:59:46.123" v="33" actId="207"/>
        <pc:sldMkLst>
          <pc:docMk/>
          <pc:sldMk cId="3611187860" sldId="375"/>
        </pc:sldMkLst>
        <pc:graphicFrameChg chg="modGraphic">
          <ac:chgData name="ThomasChiu-邱世淦" userId="339e5a29-ae66-4def-b227-8aa4ee7346c8" providerId="ADAL" clId="{88B24C7D-2D04-4924-A3C0-CB022750A9EF}" dt="2025-11-03T08:59:46.123" v="33" actId="207"/>
          <ac:graphicFrameMkLst>
            <pc:docMk/>
            <pc:sldMk cId="3611187860" sldId="375"/>
            <ac:graphicFrameMk id="5" creationId="{F60BE19F-F3D2-38A5-2D32-FD2EAEACD7DA}"/>
          </ac:graphicFrameMkLst>
        </pc:graphicFrameChg>
      </pc:sldChg>
      <pc:sldChg chg="modSp mod">
        <pc:chgData name="ThomasChiu-邱世淦" userId="339e5a29-ae66-4def-b227-8aa4ee7346c8" providerId="ADAL" clId="{88B24C7D-2D04-4924-A3C0-CB022750A9EF}" dt="2025-11-03T09:50:35.586" v="50" actId="207"/>
        <pc:sldMkLst>
          <pc:docMk/>
          <pc:sldMk cId="1585685764" sldId="380"/>
        </pc:sldMkLst>
        <pc:graphicFrameChg chg="modGraphic">
          <ac:chgData name="ThomasChiu-邱世淦" userId="339e5a29-ae66-4def-b227-8aa4ee7346c8" providerId="ADAL" clId="{88B24C7D-2D04-4924-A3C0-CB022750A9EF}" dt="2025-11-03T09:50:35.586" v="50" actId="207"/>
          <ac:graphicFrameMkLst>
            <pc:docMk/>
            <pc:sldMk cId="1585685764" sldId="380"/>
            <ac:graphicFrameMk id="5" creationId="{676D1FFE-E272-D7F0-98BB-AA75A35E6F64}"/>
          </ac:graphicFrameMkLst>
        </pc:graphicFrameChg>
      </pc:sldChg>
      <pc:sldChg chg="modSp mod">
        <pc:chgData name="ThomasChiu-邱世淦" userId="339e5a29-ae66-4def-b227-8aa4ee7346c8" providerId="ADAL" clId="{88B24C7D-2D04-4924-A3C0-CB022750A9EF}" dt="2025-11-03T09:57:26.709" v="58" actId="207"/>
        <pc:sldMkLst>
          <pc:docMk/>
          <pc:sldMk cId="290364296" sldId="383"/>
        </pc:sldMkLst>
        <pc:spChg chg="mod">
          <ac:chgData name="ThomasChiu-邱世淦" userId="339e5a29-ae66-4def-b227-8aa4ee7346c8" providerId="ADAL" clId="{88B24C7D-2D04-4924-A3C0-CB022750A9EF}" dt="2025-11-03T09:57:14.977" v="57" actId="1076"/>
          <ac:spMkLst>
            <pc:docMk/>
            <pc:sldMk cId="290364296" sldId="383"/>
            <ac:spMk id="6" creationId="{B56B58DF-B428-553A-9DE0-895FAF99F3BF}"/>
          </ac:spMkLst>
        </pc:spChg>
        <pc:graphicFrameChg chg="modGraphic">
          <ac:chgData name="ThomasChiu-邱世淦" userId="339e5a29-ae66-4def-b227-8aa4ee7346c8" providerId="ADAL" clId="{88B24C7D-2D04-4924-A3C0-CB022750A9EF}" dt="2025-11-03T09:57:26.709" v="58" actId="207"/>
          <ac:graphicFrameMkLst>
            <pc:docMk/>
            <pc:sldMk cId="290364296" sldId="383"/>
            <ac:graphicFrameMk id="5" creationId="{3C14D958-6388-A74D-C2D2-ABE956C9FEE1}"/>
          </ac:graphicFrameMkLst>
        </pc:graphicFrameChg>
      </pc:sldChg>
      <pc:sldChg chg="modSp mod">
        <pc:chgData name="ThomasChiu-邱世淦" userId="339e5a29-ae66-4def-b227-8aa4ee7346c8" providerId="ADAL" clId="{88B24C7D-2D04-4924-A3C0-CB022750A9EF}" dt="2025-11-04T02:47:40.169" v="68" actId="207"/>
        <pc:sldMkLst>
          <pc:docMk/>
          <pc:sldMk cId="1862668455" sldId="387"/>
        </pc:sldMkLst>
        <pc:graphicFrameChg chg="modGraphic">
          <ac:chgData name="ThomasChiu-邱世淦" userId="339e5a29-ae66-4def-b227-8aa4ee7346c8" providerId="ADAL" clId="{88B24C7D-2D04-4924-A3C0-CB022750A9EF}" dt="2025-11-04T02:47:40.169" v="68" actId="207"/>
          <ac:graphicFrameMkLst>
            <pc:docMk/>
            <pc:sldMk cId="1862668455" sldId="387"/>
            <ac:graphicFrameMk id="4" creationId="{3E15CCF9-F563-8A0C-0104-DB76FFA8C398}"/>
          </ac:graphicFrameMkLst>
        </pc:graphicFrameChg>
      </pc:sldChg>
      <pc:sldChg chg="modSp mod">
        <pc:chgData name="ThomasChiu-邱世淦" userId="339e5a29-ae66-4def-b227-8aa4ee7346c8" providerId="ADAL" clId="{88B24C7D-2D04-4924-A3C0-CB022750A9EF}" dt="2025-11-04T06:02:00.889" v="73" actId="1076"/>
        <pc:sldMkLst>
          <pc:docMk/>
          <pc:sldMk cId="2897926341" sldId="390"/>
        </pc:sldMkLst>
        <pc:spChg chg="mod">
          <ac:chgData name="ThomasChiu-邱世淦" userId="339e5a29-ae66-4def-b227-8aa4ee7346c8" providerId="ADAL" clId="{88B24C7D-2D04-4924-A3C0-CB022750A9EF}" dt="2025-11-04T06:02:00.889" v="73" actId="1076"/>
          <ac:spMkLst>
            <pc:docMk/>
            <pc:sldMk cId="2897926341" sldId="390"/>
            <ac:spMk id="6" creationId="{8875E80D-3A39-D421-C2BB-5415624D5313}"/>
          </ac:spMkLst>
        </pc:spChg>
        <pc:graphicFrameChg chg="modGraphic">
          <ac:chgData name="ThomasChiu-邱世淦" userId="339e5a29-ae66-4def-b227-8aa4ee7346c8" providerId="ADAL" clId="{88B24C7D-2D04-4924-A3C0-CB022750A9EF}" dt="2025-11-04T06:01:57.917" v="72" actId="207"/>
          <ac:graphicFrameMkLst>
            <pc:docMk/>
            <pc:sldMk cId="2897926341" sldId="390"/>
            <ac:graphicFrameMk id="5" creationId="{A486D552-C5E2-6A5A-D4AA-BACDD2BC904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6333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0396F641-BF67-4E9C-AADD-CB39D3E30A44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6333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F7521932-08CF-487F-A766-4F426665E6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22970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27C2CF2C-E3C2-4D8B-9483-526176C4145B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0775" cy="348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</p:spPr>
        <p:txBody>
          <a:bodyPr vert="horz" lIns="93287" tIns="46644" rIns="93287" bIns="4664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350986B7-EE0A-4A37-BBEA-AAF37A8254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7720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jp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2876550"/>
            <a:ext cx="7162800" cy="857250"/>
          </a:xfrm>
        </p:spPr>
        <p:txBody>
          <a:bodyPr/>
          <a:lstStyle>
            <a:lvl1pPr algn="ctr">
              <a:defRPr>
                <a:solidFill>
                  <a:srgbClr val="A30B35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790950"/>
            <a:ext cx="7162800" cy="914400"/>
          </a:xfrm>
        </p:spPr>
        <p:txBody>
          <a:bodyPr lIns="91440"/>
          <a:lstStyle>
            <a:lvl1pPr marL="0" indent="0" algn="ctr"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53A25CB-82AC-4F3C-B1DF-3395DC70ED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57600" y="4629150"/>
            <a:ext cx="2133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1" kern="0" dirty="0">
                <a:solidFill>
                  <a:schemeClr val="accent2"/>
                </a:solidFill>
                <a:latin typeface="+mn-lt"/>
                <a:ea typeface="+mj-ea"/>
                <a:cs typeface="+mj-cs"/>
              </a:rPr>
              <a:t>CONFIDENTIAL</a:t>
            </a:r>
            <a:endParaRPr kumimoji="0" lang="en-US" sz="900" b="1" i="1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8024CD-D909-C385-6391-4FED4A43435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11"/>
          <a:stretch/>
        </p:blipFill>
        <p:spPr>
          <a:xfrm>
            <a:off x="0" y="975"/>
            <a:ext cx="9144000" cy="731520"/>
          </a:xfrm>
          <a:prstGeom prst="rect">
            <a:avLst/>
          </a:prstGeom>
        </p:spPr>
      </p:pic>
      <p:pic>
        <p:nvPicPr>
          <p:cNvPr id="2" name="Picture 1" descr="Hend - The World Rides On Us - ® - 2 color - small.jpg">
            <a:extLst>
              <a:ext uri="{FF2B5EF4-FFF2-40B4-BE49-F238E27FC236}">
                <a16:creationId xmlns:a16="http://schemas.microsoft.com/office/drawing/2014/main" id="{DAC67821-993E-51CD-7CAD-68A92DC2D9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843881" y="936546"/>
            <a:ext cx="4999037" cy="966480"/>
          </a:xfrm>
          <a:prstGeom prst="rect">
            <a:avLst/>
          </a:prstGeom>
        </p:spPr>
      </p:pic>
      <p:pic>
        <p:nvPicPr>
          <p:cNvPr id="3" name="Picture 2" descr="A blue and red circle with black background&#10;&#10;Description automatically generated">
            <a:extLst>
              <a:ext uri="{FF2B5EF4-FFF2-40B4-BE49-F238E27FC236}">
                <a16:creationId xmlns:a16="http://schemas.microsoft.com/office/drawing/2014/main" id="{347536B6-B377-70FB-2865-6F91333BF4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168983"/>
            <a:ext cx="2129222" cy="6313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BF9792-8619-4A48-A628-1A5C15E4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4038600" cy="3714750"/>
          </a:xfrm>
        </p:spPr>
        <p:txBody>
          <a:bodyPr/>
          <a:lstStyle>
            <a:lvl2pPr>
              <a:buSzPct val="110000"/>
              <a:defRPr/>
            </a:lvl2pPr>
            <a:lvl3pPr>
              <a:buSzPct val="110000"/>
              <a:defRPr/>
            </a:lvl3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800600" y="914400"/>
            <a:ext cx="4038600" cy="3714750"/>
          </a:xfrm>
        </p:spPr>
        <p:txBody>
          <a:bodyPr/>
          <a:lstStyle>
            <a:lvl2pPr>
              <a:buSzPct val="110000"/>
              <a:defRPr/>
            </a:lvl2pPr>
            <a:lvl3pPr>
              <a:buSzPct val="110000"/>
              <a:defRPr/>
            </a:lvl3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1207197-C0E3-4077-86CA-4C514D367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425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D0111-E52C-18D3-59D7-073C30945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2ACC9136-E5B4-ACCD-AC91-BF539F35CE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914400"/>
            <a:ext cx="5181600" cy="37147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30261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2941B-6CFF-37F1-DDCB-8B785231B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CA5DF9D9-F3FC-E931-9E73-F39B739CA4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19400" y="914400"/>
            <a:ext cx="6019800" cy="37147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94977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tional 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CB3E42-7B25-4E2E-A4F1-6032A7CAEB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674" y="1679926"/>
            <a:ext cx="6992326" cy="2950781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E52A65-9B7D-4FE3-BF0C-505B0F834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782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tional1_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4C5C32C-3E2F-4204-A46A-921207C569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687" y="1062990"/>
            <a:ext cx="6339840" cy="356616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4038600" cy="3714750"/>
          </a:xfrm>
        </p:spPr>
        <p:txBody>
          <a:bodyPr/>
          <a:lstStyle>
            <a:lvl2pPr>
              <a:buSzPct val="110000"/>
              <a:defRPr/>
            </a:lvl2pPr>
            <a:lvl3pPr>
              <a:buSzPct val="110000"/>
              <a:defRPr/>
            </a:lvl3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800600" y="914400"/>
            <a:ext cx="4038600" cy="3714750"/>
          </a:xfrm>
        </p:spPr>
        <p:txBody>
          <a:bodyPr/>
          <a:lstStyle>
            <a:lvl2pPr>
              <a:buSzPct val="110000"/>
              <a:defRPr/>
            </a:lvl2pPr>
            <a:lvl3pPr>
              <a:buSzPct val="110000"/>
              <a:defRPr/>
            </a:lvl3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727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 highway 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B42F1F-149E-4448-BCD3-0A25BDB073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729" y="1337310"/>
            <a:ext cx="5852160" cy="3291840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0D2E0DA-8ED4-487C-B1FB-E4514157E9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922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 highway 2_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B33FA7-E178-4F98-AE92-85646711E3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827" y="1154430"/>
            <a:ext cx="6177280" cy="34747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4038600" cy="3714750"/>
          </a:xfrm>
        </p:spPr>
        <p:txBody>
          <a:bodyPr/>
          <a:lstStyle>
            <a:lvl2pPr>
              <a:buSzPct val="110000"/>
              <a:defRPr/>
            </a:lvl2pPr>
            <a:lvl3pPr>
              <a:buSzPct val="110000"/>
              <a:defRPr/>
            </a:lvl3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800600" y="914400"/>
            <a:ext cx="4038600" cy="3714750"/>
          </a:xfrm>
        </p:spPr>
        <p:txBody>
          <a:bodyPr/>
          <a:lstStyle>
            <a:lvl2pPr>
              <a:buSzPct val="110000"/>
              <a:defRPr/>
            </a:lvl2pPr>
            <a:lvl3pPr>
              <a:buSzPct val="110000"/>
              <a:defRPr/>
            </a:lvl3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98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914400"/>
            <a:ext cx="4038600" cy="171450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buSzPct val="110000"/>
              <a:defRPr sz="1800"/>
            </a:lvl2pPr>
            <a:lvl3pPr>
              <a:buSzPct val="110000"/>
              <a:defRPr sz="1600"/>
            </a:lvl3pPr>
            <a:lvl4pPr>
              <a:buSzPct val="110000"/>
              <a:defRPr sz="1400"/>
            </a:lvl4pPr>
            <a:lvl5pPr marL="1371600" indent="0">
              <a:buSzPct val="11000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 hasCustomPrompt="1"/>
          </p:nvPr>
        </p:nvSpPr>
        <p:spPr>
          <a:xfrm>
            <a:off x="4800600" y="914400"/>
            <a:ext cx="4038600" cy="1714500"/>
          </a:xfrm>
        </p:spPr>
        <p:txBody>
          <a:bodyPr/>
          <a:lstStyle>
            <a:lvl1pPr>
              <a:defRPr sz="2000"/>
            </a:lvl1pPr>
            <a:lvl2pPr>
              <a:buSzPct val="110000"/>
              <a:defRPr sz="1800"/>
            </a:lvl2pPr>
            <a:lvl3pPr>
              <a:buSzPct val="110000"/>
              <a:defRPr sz="1600"/>
            </a:lvl3pPr>
            <a:lvl4pPr>
              <a:buSzPct val="110000"/>
              <a:defRPr sz="1400"/>
            </a:lvl4pPr>
            <a:lvl5pPr>
              <a:buSzPct val="110000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9EA10B-A539-4DF2-864F-83049B461F7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2800350"/>
            <a:ext cx="4038600" cy="171450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buSzPct val="110000"/>
              <a:defRPr sz="1800"/>
            </a:lvl2pPr>
            <a:lvl3pPr>
              <a:buSzPct val="110000"/>
              <a:defRPr sz="1600"/>
            </a:lvl3pPr>
            <a:lvl4pPr>
              <a:buSzPct val="110000"/>
              <a:defRPr sz="1400"/>
            </a:lvl4pPr>
            <a:lvl5pPr>
              <a:buSzPct val="110000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5F898D-896C-4CE0-98E1-7C1D754FE4A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809744" y="2800350"/>
            <a:ext cx="4038600" cy="1714500"/>
          </a:xfrm>
        </p:spPr>
        <p:txBody>
          <a:bodyPr/>
          <a:lstStyle>
            <a:lvl1pPr>
              <a:defRPr sz="2000"/>
            </a:lvl1pPr>
            <a:lvl2pPr>
              <a:buSzPct val="110000"/>
              <a:defRPr sz="1800"/>
            </a:lvl2pPr>
            <a:lvl3pPr>
              <a:buSzPct val="110000"/>
              <a:defRPr sz="1600"/>
            </a:lvl3pPr>
            <a:lvl4pPr>
              <a:buSzPct val="110000"/>
              <a:defRPr sz="1400"/>
            </a:lvl4pPr>
            <a:lvl5pPr>
              <a:buSzPct val="110000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9018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el Efficiency 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C67D95-12B3-4862-9B1D-7823344C76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925" y="70598"/>
            <a:ext cx="548687" cy="548687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C8A5936B-C2EF-4ADE-908C-DFEBE37762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924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time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F125F-B5E4-4354-A937-C9312CCD8C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D9D6920-D489-41AF-B4B8-319C55F39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208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w Maintenance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F8804-5F02-4073-A975-42E967E49E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2FD7282-C866-4F98-A19F-59B1453FC0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55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weight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4F8A4-9787-4DF6-B4DA-7E0D533E2A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8DBA4B4-6A8F-498C-A1A2-27914DD1E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012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w Cost 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FBBE7D-151E-4FF0-93F1-74B177865F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96D5FEFC-BB35-431C-A614-C007227E6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306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de | Ride Comfort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1FA7C-6E9B-4493-9B6F-4EFC23CC65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C363C633-2DFD-4CDE-A3CB-0340901DC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491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dling Stability 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A9C52-F245-41EA-B61E-AD71AAE152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C3BE43-F482-44B3-92B9-7384E4BE25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35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 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D94DC-6841-4CB5-8038-A25BDED9C5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8687" cy="54868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0861D6FB-8F93-4FFE-872D-85DD6E530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146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re Pressure | Tire Wear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609600" y="914400"/>
            <a:ext cx="8229600" cy="3714750"/>
          </a:xfrm>
        </p:spPr>
        <p:txBody>
          <a:bodyPr/>
          <a:lstStyle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134BC3-41DE-44B8-89FC-D759999794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896" y="73152"/>
            <a:ext cx="543000" cy="550145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78DB3D9-DFCF-4ED3-A105-4383CAD977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535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609600" y="1219200"/>
            <a:ext cx="8229600" cy="1276350"/>
          </a:xfrm>
        </p:spPr>
        <p:txBody>
          <a:bodyPr/>
          <a:lstStyle>
            <a:lvl1pPr marL="0" indent="0" algn="ctr">
              <a:buFontTx/>
              <a:buNone/>
              <a:defRPr i="1">
                <a:solidFill>
                  <a:schemeClr val="tx1"/>
                </a:solidFill>
              </a:defRPr>
            </a:lvl1pPr>
            <a:lvl2pPr>
              <a:buSzPct val="110000"/>
              <a:defRPr/>
            </a:lvl2pPr>
            <a:lvl4pPr>
              <a:buSzPct val="110000"/>
              <a:defRPr/>
            </a:lvl4pPr>
            <a:lvl5pPr>
              <a:buSzPct val="110000"/>
              <a:defRPr/>
            </a:lvl5pPr>
          </a:lstStyle>
          <a:p>
            <a:pPr lvl="0"/>
            <a:r>
              <a:rPr lang="en-US" dirty="0"/>
              <a:t>Click to edit Subhead text style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F87508-2BB4-4419-BEFC-20B55A0C22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643" y="1617437"/>
            <a:ext cx="2270713" cy="190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7591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8031" cy="51434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959" y="0"/>
            <a:ext cx="8321040" cy="7071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2639" y="937260"/>
            <a:ext cx="4998720" cy="9662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1">
                <a:solidFill>
                  <a:srgbClr val="A20A35"/>
                </a:solidFill>
                <a:latin typeface="Arial"/>
                <a:cs typeface="Arial"/>
              </a:defRPr>
            </a:lvl1pPr>
          </a:lstStyle>
          <a:p>
            <a:pPr marL="2540" algn="ctr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CONFIDENTIAL</a:t>
            </a:r>
          </a:p>
          <a:p>
            <a:pPr algn="ctr">
              <a:lnSpc>
                <a:spcPct val="100000"/>
              </a:lnSpc>
              <a:spcBef>
                <a:spcPts val="439"/>
              </a:spcBef>
            </a:pPr>
            <a:r>
              <a:rPr sz="700" b="0" i="0" spc="-5" dirty="0">
                <a:solidFill>
                  <a:srgbClr val="000000"/>
                </a:solidFill>
                <a:latin typeface="Arial MT"/>
                <a:cs typeface="Arial MT"/>
              </a:rPr>
              <a:t>© </a:t>
            </a:r>
            <a:r>
              <a:rPr sz="700" b="0" i="0" spc="-10" dirty="0">
                <a:solidFill>
                  <a:srgbClr val="000000"/>
                </a:solidFill>
                <a:latin typeface="Arial MT"/>
                <a:cs typeface="Arial MT"/>
              </a:rPr>
              <a:t>2024</a:t>
            </a:r>
            <a:r>
              <a:rPr sz="700" b="0" i="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700" b="0" i="0" spc="-5" dirty="0">
                <a:solidFill>
                  <a:srgbClr val="000000"/>
                </a:solidFill>
                <a:latin typeface="Arial MT"/>
                <a:cs typeface="Arial MT"/>
              </a:rPr>
              <a:t>Hendrickson</a:t>
            </a:r>
            <a:r>
              <a:rPr sz="700" b="0" i="0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700" b="0" i="0" spc="-5" dirty="0">
                <a:solidFill>
                  <a:srgbClr val="000000"/>
                </a:solidFill>
                <a:latin typeface="Arial MT"/>
                <a:cs typeface="Arial MT"/>
              </a:rPr>
              <a:t>USA, L.L.C.</a:t>
            </a:r>
            <a:r>
              <a:rPr sz="700" b="0" i="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700" b="0" i="0" spc="-5" dirty="0">
                <a:solidFill>
                  <a:srgbClr val="000000"/>
                </a:solidFill>
                <a:latin typeface="Arial MT"/>
                <a:cs typeface="Arial MT"/>
              </a:rPr>
              <a:t>All</a:t>
            </a:r>
            <a:r>
              <a:rPr sz="700" b="0" i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700" b="0" i="0" spc="-5" dirty="0">
                <a:solidFill>
                  <a:srgbClr val="000000"/>
                </a:solidFill>
                <a:latin typeface="Arial MT"/>
                <a:cs typeface="Arial MT"/>
              </a:rPr>
              <a:t>Rights</a:t>
            </a:r>
            <a:r>
              <a:rPr sz="700" b="0" i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700" b="0" i="0" spc="-5" dirty="0">
                <a:solidFill>
                  <a:srgbClr val="000000"/>
                </a:solidFill>
                <a:latin typeface="Arial MT"/>
                <a:cs typeface="Arial MT"/>
              </a:rPr>
              <a:t>Reserved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09497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8031" cy="51434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959" y="0"/>
            <a:ext cx="8321040" cy="7071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7600" y="4663440"/>
            <a:ext cx="1219200" cy="3611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A20A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1">
                <a:solidFill>
                  <a:srgbClr val="A20A35"/>
                </a:solidFill>
                <a:latin typeface="Arial"/>
                <a:cs typeface="Arial"/>
              </a:defRPr>
            </a:lvl1pPr>
          </a:lstStyle>
          <a:p>
            <a:pPr marL="2540" algn="ctr">
              <a:lnSpc>
                <a:spcPct val="100000"/>
              </a:lnSpc>
              <a:spcBef>
                <a:spcPts val="15"/>
              </a:spcBef>
            </a:pPr>
            <a:r>
              <a:rPr spc="-5" dirty="0"/>
              <a:t>CONFIDENTIAL</a:t>
            </a:r>
          </a:p>
          <a:p>
            <a:pPr algn="ctr">
              <a:lnSpc>
                <a:spcPct val="100000"/>
              </a:lnSpc>
              <a:spcBef>
                <a:spcPts val="439"/>
              </a:spcBef>
            </a:pPr>
            <a:r>
              <a:rPr sz="700" b="0" i="0" spc="-5" dirty="0">
                <a:solidFill>
                  <a:srgbClr val="000000"/>
                </a:solidFill>
                <a:latin typeface="Arial MT"/>
                <a:cs typeface="Arial MT"/>
              </a:rPr>
              <a:t>© </a:t>
            </a:r>
            <a:r>
              <a:rPr sz="700" b="0" i="0" spc="-10" dirty="0">
                <a:solidFill>
                  <a:srgbClr val="000000"/>
                </a:solidFill>
                <a:latin typeface="Arial MT"/>
                <a:cs typeface="Arial MT"/>
              </a:rPr>
              <a:t>2024</a:t>
            </a:r>
            <a:r>
              <a:rPr sz="700" b="0" i="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700" b="0" i="0" spc="-5" dirty="0">
                <a:solidFill>
                  <a:srgbClr val="000000"/>
                </a:solidFill>
                <a:latin typeface="Arial MT"/>
                <a:cs typeface="Arial MT"/>
              </a:rPr>
              <a:t>Hendrickson</a:t>
            </a:r>
            <a:r>
              <a:rPr sz="700" b="0" i="0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700" b="0" i="0" spc="-5" dirty="0">
                <a:solidFill>
                  <a:srgbClr val="000000"/>
                </a:solidFill>
                <a:latin typeface="Arial MT"/>
                <a:cs typeface="Arial MT"/>
              </a:rPr>
              <a:t>USA, L.L.C.</a:t>
            </a:r>
            <a:r>
              <a:rPr sz="700" b="0" i="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700" b="0" i="0" spc="-5" dirty="0">
                <a:solidFill>
                  <a:srgbClr val="000000"/>
                </a:solidFill>
                <a:latin typeface="Arial MT"/>
                <a:cs typeface="Arial MT"/>
              </a:rPr>
              <a:t>All</a:t>
            </a:r>
            <a:r>
              <a:rPr sz="700" b="0" i="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700" b="0" i="0" spc="-5" dirty="0">
                <a:solidFill>
                  <a:srgbClr val="000000"/>
                </a:solidFill>
                <a:latin typeface="Arial MT"/>
                <a:cs typeface="Arial MT"/>
              </a:rPr>
              <a:t>Rights</a:t>
            </a:r>
            <a:r>
              <a:rPr sz="700" b="0" i="0" spc="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700" b="0" i="0" spc="-5" dirty="0">
                <a:solidFill>
                  <a:srgbClr val="000000"/>
                </a:solidFill>
                <a:latin typeface="Arial MT"/>
                <a:cs typeface="Arial MT"/>
              </a:rPr>
              <a:t>Reserved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1156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8AA7EC-CF6F-15F6-1673-86332A3D9596}"/>
              </a:ext>
            </a:extLst>
          </p:cNvPr>
          <p:cNvPicPr>
            <a:picLocks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4" b="11377"/>
          <a:stretch/>
        </p:blipFill>
        <p:spPr>
          <a:xfrm>
            <a:off x="0" y="975"/>
            <a:ext cx="9144000" cy="731520"/>
          </a:xfrm>
          <a:prstGeom prst="rect">
            <a:avLst/>
          </a:prstGeom>
        </p:spPr>
      </p:pic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8014" y="0"/>
            <a:ext cx="8231187" cy="7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886913"/>
            <a:ext cx="8229600" cy="374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6607" y="4857750"/>
            <a:ext cx="533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tx1"/>
                </a:solidFill>
                <a:latin typeface="+mn-lt"/>
              </a:rPr>
              <a:t>© 2025 Hendrickson USA, L.L.C. All Rights Reserved</a:t>
            </a:r>
            <a:endParaRPr 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700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C12CBF5-4335-4419-81AD-0D6049F4CC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57600" y="4626173"/>
            <a:ext cx="2133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1" kern="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CONFIDENTIAL</a:t>
            </a:r>
            <a:endParaRPr kumimoji="0" lang="en-US" sz="9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2" name="Picture 1" descr="A blue and red circle with black background&#10;&#10;Description automatically generated">
            <a:extLst>
              <a:ext uri="{FF2B5EF4-FFF2-40B4-BE49-F238E27FC236}">
                <a16:creationId xmlns:a16="http://schemas.microsoft.com/office/drawing/2014/main" id="{E36CE259-2891-AC3B-A9AE-D0E30A859676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4662738"/>
            <a:ext cx="1219200" cy="3615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682" r:id="rId3"/>
    <p:sldLayoutId id="2147483706" r:id="rId4"/>
    <p:sldLayoutId id="2147483707" r:id="rId5"/>
    <p:sldLayoutId id="2147483686" r:id="rId6"/>
    <p:sldLayoutId id="2147483688" r:id="rId7"/>
    <p:sldLayoutId id="2147483705" r:id="rId8"/>
    <p:sldLayoutId id="2147483687" r:id="rId9"/>
    <p:sldLayoutId id="2147483689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678" r:id="rId20"/>
    <p:sldLayoutId id="2147483684" r:id="rId21"/>
    <p:sldLayoutId id="2147483710" r:id="rId22"/>
    <p:sldLayoutId id="2147483711" r:id="rId2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n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D60000"/>
          </a:solidFill>
          <a:latin typeface="Tahoma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A30B35"/>
        </a:buClr>
        <a:buSzPct val="115000"/>
        <a:buFont typeface="Wingdings" pitchFamily="2" charset="2"/>
        <a:buChar char="§"/>
        <a:defRPr sz="2400" b="1">
          <a:solidFill>
            <a:srgbClr val="A30B35"/>
          </a:solidFill>
          <a:latin typeface="+mn-lt"/>
          <a:ea typeface="+mn-ea"/>
          <a:cs typeface="+mn-cs"/>
        </a:defRPr>
      </a:lvl1pPr>
      <a:lvl2pPr marL="684213" indent="-227013" algn="l" rtl="0" eaLnBrk="1" fontAlgn="base" hangingPunct="1">
        <a:spcBef>
          <a:spcPct val="20000"/>
        </a:spcBef>
        <a:spcAft>
          <a:spcPct val="0"/>
        </a:spcAft>
        <a:buClr>
          <a:srgbClr val="A30B35"/>
        </a:buClr>
        <a:buSzPct val="110000"/>
        <a:buChar char="•"/>
        <a:defRPr sz="2000" b="1">
          <a:solidFill>
            <a:schemeClr val="tx1"/>
          </a:solidFill>
          <a:latin typeface="+mn-lt"/>
        </a:defRPr>
      </a:lvl2pPr>
      <a:lvl3pPr marL="1025525" indent="-225425" algn="l" rtl="0" eaLnBrk="1" fontAlgn="base" hangingPunct="1">
        <a:spcBef>
          <a:spcPct val="20000"/>
        </a:spcBef>
        <a:spcAft>
          <a:spcPct val="0"/>
        </a:spcAft>
        <a:buClr>
          <a:srgbClr val="A30B35"/>
        </a:buClr>
        <a:buSzPct val="110000"/>
        <a:buFont typeface="Wingdings" pitchFamily="2" charset="2"/>
        <a:buChar char="w"/>
        <a:defRPr b="1">
          <a:solidFill>
            <a:schemeClr val="tx1"/>
          </a:solidFill>
          <a:latin typeface="+mn-lt"/>
        </a:defRPr>
      </a:lvl3pPr>
      <a:lvl4pPr marL="1316038" indent="-228600" algn="l" rtl="0" eaLnBrk="1" fontAlgn="base" hangingPunct="1">
        <a:spcBef>
          <a:spcPct val="20000"/>
        </a:spcBef>
        <a:spcAft>
          <a:spcPct val="0"/>
        </a:spcAft>
        <a:buClr>
          <a:srgbClr val="A30B35"/>
        </a:buClr>
        <a:buSzPct val="110000"/>
        <a:buFont typeface="Times New Roman" pitchFamily="18" charset="0"/>
        <a:buChar char="–"/>
        <a:defRPr sz="1600" b="1">
          <a:solidFill>
            <a:schemeClr val="tx1"/>
          </a:solidFill>
          <a:latin typeface="+mn-lt"/>
        </a:defRPr>
      </a:lvl4pPr>
      <a:lvl5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A30B35"/>
        </a:buClr>
        <a:buSzPct val="110000"/>
        <a:buChar char="»"/>
        <a:defRPr sz="1400" b="1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2859" y="3227990"/>
            <a:ext cx="7162800" cy="857250"/>
          </a:xfrm>
        </p:spPr>
        <p:txBody>
          <a:bodyPr/>
          <a:lstStyle/>
          <a:p>
            <a:r>
              <a:rPr lang="en-US" dirty="0">
                <a:cs typeface="Arial"/>
              </a:rPr>
              <a:t>BSE-18T State Machine Validation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272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0C9C37-3D84-B72E-F2F1-43E75AEB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4" y="0"/>
            <a:ext cx="8231187" cy="761055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State Machine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27950C-03A5-3D04-0D31-4AD0DE85FC7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2589329" y="914400"/>
            <a:ext cx="4270141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3667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460D49-9711-1CF1-662E-E1C1EF885D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The Sensors with ID’s as shown below are updated with the new BSE18T HDS8_OTA_V07.0A_20250904.gbl firmware</a:t>
            </a:r>
          </a:p>
          <a:p>
            <a:pPr lvl="1"/>
            <a:r>
              <a:rPr lang="en-US" sz="1800" dirty="0"/>
              <a:t>78:1C:9D:7C:48:81</a:t>
            </a:r>
          </a:p>
          <a:p>
            <a:pPr lvl="1"/>
            <a:r>
              <a:rPr lang="en-US" sz="1800" dirty="0"/>
              <a:t>FC:4D:6A:E3:B7:0C</a:t>
            </a:r>
          </a:p>
          <a:p>
            <a:r>
              <a:rPr lang="en-US" sz="2200" dirty="0"/>
              <a:t>The following tests are performed on the Sensors</a:t>
            </a:r>
          </a:p>
          <a:p>
            <a:pPr lvl="1"/>
            <a:r>
              <a:rPr lang="en-US" sz="1800" dirty="0"/>
              <a:t>Standby to Normal to Standby</a:t>
            </a:r>
          </a:p>
          <a:p>
            <a:pPr lvl="1"/>
            <a:r>
              <a:rPr lang="en-US" sz="1800" dirty="0"/>
              <a:t>Normal to Delta P to Normal</a:t>
            </a:r>
          </a:p>
          <a:p>
            <a:pPr lvl="1"/>
            <a:r>
              <a:rPr lang="en-US" sz="1800" dirty="0"/>
              <a:t>Normal to Monitoring to Normal</a:t>
            </a:r>
          </a:p>
          <a:p>
            <a:pPr lvl="1"/>
            <a:r>
              <a:rPr lang="en-US" sz="1800" dirty="0"/>
              <a:t>Monitoring to Delta P to Monitoring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4A8D2D-73D7-5D1F-88C5-DAE2142F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354118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D25BE5-F692-F86C-70F0-496114B4301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2257484" y="914400"/>
            <a:ext cx="4933832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9AB5292-23FD-C10F-DB78-DAAED9246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SETUP</a:t>
            </a:r>
          </a:p>
        </p:txBody>
      </p:sp>
    </p:spTree>
    <p:extLst>
      <p:ext uri="{BB962C8B-B14F-4D97-AF65-F5344CB8AC3E}">
        <p14:creationId xmlns:p14="http://schemas.microsoft.com/office/powerpoint/2010/main" val="706965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00F7EE-988A-591E-8AF7-9CB17783A9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0975" y="714375"/>
            <a:ext cx="8229600" cy="371475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92A32E-769C-3AD4-D27A-BC9486DE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STANDBY to NORMAL to STANDBY(B7:0C)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4CD3E7-5A18-CFEF-CBE9-641FC668D8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761678"/>
              </p:ext>
            </p:extLst>
          </p:nvPr>
        </p:nvGraphicFramePr>
        <p:xfrm>
          <a:off x="914400" y="761055"/>
          <a:ext cx="7088184" cy="4333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023">
                  <a:extLst>
                    <a:ext uri="{9D8B030D-6E8A-4147-A177-3AD203B41FA5}">
                      <a16:colId xmlns:a16="http://schemas.microsoft.com/office/drawing/2014/main" val="808288606"/>
                    </a:ext>
                  </a:extLst>
                </a:gridCol>
                <a:gridCol w="886023">
                  <a:extLst>
                    <a:ext uri="{9D8B030D-6E8A-4147-A177-3AD203B41FA5}">
                      <a16:colId xmlns:a16="http://schemas.microsoft.com/office/drawing/2014/main" val="430582845"/>
                    </a:ext>
                  </a:extLst>
                </a:gridCol>
                <a:gridCol w="886023">
                  <a:extLst>
                    <a:ext uri="{9D8B030D-6E8A-4147-A177-3AD203B41FA5}">
                      <a16:colId xmlns:a16="http://schemas.microsoft.com/office/drawing/2014/main" val="1753823079"/>
                    </a:ext>
                  </a:extLst>
                </a:gridCol>
                <a:gridCol w="886023">
                  <a:extLst>
                    <a:ext uri="{9D8B030D-6E8A-4147-A177-3AD203B41FA5}">
                      <a16:colId xmlns:a16="http://schemas.microsoft.com/office/drawing/2014/main" val="3040511193"/>
                    </a:ext>
                  </a:extLst>
                </a:gridCol>
                <a:gridCol w="886023">
                  <a:extLst>
                    <a:ext uri="{9D8B030D-6E8A-4147-A177-3AD203B41FA5}">
                      <a16:colId xmlns:a16="http://schemas.microsoft.com/office/drawing/2014/main" val="270216695"/>
                    </a:ext>
                  </a:extLst>
                </a:gridCol>
                <a:gridCol w="886023">
                  <a:extLst>
                    <a:ext uri="{9D8B030D-6E8A-4147-A177-3AD203B41FA5}">
                      <a16:colId xmlns:a16="http://schemas.microsoft.com/office/drawing/2014/main" val="4143534069"/>
                    </a:ext>
                  </a:extLst>
                </a:gridCol>
                <a:gridCol w="886023">
                  <a:extLst>
                    <a:ext uri="{9D8B030D-6E8A-4147-A177-3AD203B41FA5}">
                      <a16:colId xmlns:a16="http://schemas.microsoft.com/office/drawing/2014/main" val="1219205110"/>
                    </a:ext>
                  </a:extLst>
                </a:gridCol>
                <a:gridCol w="886023">
                  <a:extLst>
                    <a:ext uri="{9D8B030D-6E8A-4147-A177-3AD203B41FA5}">
                      <a16:colId xmlns:a16="http://schemas.microsoft.com/office/drawing/2014/main" val="62544300"/>
                    </a:ext>
                  </a:extLst>
                </a:gridCol>
              </a:tblGrid>
              <a:tr h="671453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752962"/>
                  </a:ext>
                </a:extLst>
              </a:tr>
              <a:tr h="484938">
                <a:tc>
                  <a:txBody>
                    <a:bodyPr/>
                    <a:lstStyle/>
                    <a:p>
                      <a:r>
                        <a:rPr lang="en-US" sz="1000" dirty="0"/>
                        <a:t>10:00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STANDBY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929816"/>
                  </a:ext>
                </a:extLst>
              </a:tr>
              <a:tr h="453852">
                <a:tc>
                  <a:txBody>
                    <a:bodyPr/>
                    <a:lstStyle/>
                    <a:p>
                      <a:r>
                        <a:rPr lang="en-US" sz="1000" dirty="0"/>
                        <a:t>10:09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168662"/>
                  </a:ext>
                </a:extLst>
              </a:tr>
              <a:tr h="453852">
                <a:tc>
                  <a:txBody>
                    <a:bodyPr/>
                    <a:lstStyle/>
                    <a:p>
                      <a:r>
                        <a:rPr lang="en-US" sz="1000" dirty="0"/>
                        <a:t>10:10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9.42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914119"/>
                  </a:ext>
                </a:extLst>
              </a:tr>
              <a:tr h="453852">
                <a:tc>
                  <a:txBody>
                    <a:bodyPr/>
                    <a:lstStyle/>
                    <a:p>
                      <a:r>
                        <a:rPr lang="en-US" sz="1000" dirty="0"/>
                        <a:t>10:15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9.42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890428"/>
                  </a:ext>
                </a:extLst>
              </a:tr>
              <a:tr h="453852">
                <a:tc>
                  <a:txBody>
                    <a:bodyPr/>
                    <a:lstStyle/>
                    <a:p>
                      <a:r>
                        <a:rPr lang="en-US" sz="1000" dirty="0"/>
                        <a:t>10:20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695250"/>
                  </a:ext>
                </a:extLst>
              </a:tr>
              <a:tr h="453852">
                <a:tc>
                  <a:txBody>
                    <a:bodyPr/>
                    <a:lstStyle/>
                    <a:p>
                      <a:r>
                        <a:rPr lang="en-US" sz="1000" dirty="0"/>
                        <a:t>10:20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95622"/>
                  </a:ext>
                </a:extLst>
              </a:tr>
              <a:tr h="453852">
                <a:tc>
                  <a:txBody>
                    <a:bodyPr/>
                    <a:lstStyle/>
                    <a:p>
                      <a:r>
                        <a:rPr lang="en-US" sz="1000" dirty="0"/>
                        <a:t>10:25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151666"/>
                  </a:ext>
                </a:extLst>
              </a:tr>
              <a:tr h="453852">
                <a:tc>
                  <a:txBody>
                    <a:bodyPr/>
                    <a:lstStyle/>
                    <a:p>
                      <a:r>
                        <a:rPr lang="en-US" sz="1000" dirty="0"/>
                        <a:t>10:30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2911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F03ACB-EF25-6743-0152-19C9EBCA2F72}"/>
              </a:ext>
            </a:extLst>
          </p:cNvPr>
          <p:cNvSpPr txBox="1"/>
          <p:nvPr/>
        </p:nvSpPr>
        <p:spPr>
          <a:xfrm>
            <a:off x="3729308" y="1389701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TX from the Sensor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A287AF-D1EA-DFFF-3970-95093D504170}"/>
              </a:ext>
            </a:extLst>
          </p:cNvPr>
          <p:cNvSpPr txBox="1"/>
          <p:nvPr/>
        </p:nvSpPr>
        <p:spPr>
          <a:xfrm>
            <a:off x="2895600" y="1919882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Changed pressure from 0 PSI to 10 PSI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A5F4C2-30E0-AFC7-49F3-D5AB5C1E9B96}"/>
              </a:ext>
            </a:extLst>
          </p:cNvPr>
          <p:cNvSpPr txBox="1"/>
          <p:nvPr/>
        </p:nvSpPr>
        <p:spPr>
          <a:xfrm>
            <a:off x="2819400" y="3263375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Changed pressure from 10 PSI to 0 PSI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ECA86F-E32D-7209-55B4-3215A63DDF68}"/>
              </a:ext>
            </a:extLst>
          </p:cNvPr>
          <p:cNvSpPr txBox="1"/>
          <p:nvPr/>
        </p:nvSpPr>
        <p:spPr>
          <a:xfrm>
            <a:off x="3352800" y="4646183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 TX from the Sensor </a:t>
            </a:r>
            <a:r>
              <a:rPr lang="en-US" sz="1000" dirty="0">
                <a:sym typeface="Wingdings" panose="05000000000000000000" pitchFamily="2" charset="2"/>
              </a:rPr>
              <a:t>(</a:t>
            </a:r>
            <a:r>
              <a:rPr lang="en-US" sz="1000" b="1" dirty="0">
                <a:sym typeface="Wingdings" panose="05000000000000000000" pitchFamily="2" charset="2"/>
              </a:rPr>
              <a:t>Should I expect one more Normal Mode Tx?)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685689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CD768-BAF5-947D-21E3-D8C43BA8A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STANDBY to NORMAL to STANDBY(B7:0C)</a:t>
            </a:r>
          </a:p>
        </p:txBody>
      </p: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BF2524EF-610E-0AE4-51D2-CF586BCB12B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609600" y="1157886"/>
            <a:ext cx="8229600" cy="322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38269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ED925F-7D19-3137-A8DD-79B59FF96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STANDBY to NORMAL to STANDBY(B7:0C)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79190A8-6F68-FC7D-781D-FEDC50ADE06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986703" y="685801"/>
            <a:ext cx="7170593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0CAD2F-06AB-DC89-8AF0-55DD248C9353}"/>
              </a:ext>
            </a:extLst>
          </p:cNvPr>
          <p:cNvCxnSpPr>
            <a:cxnSpLocks/>
          </p:cNvCxnSpPr>
          <p:nvPr/>
        </p:nvCxnSpPr>
        <p:spPr>
          <a:xfrm>
            <a:off x="5867400" y="3333750"/>
            <a:ext cx="1371600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718B223-D32F-36A8-D856-CE8E5342C86E}"/>
              </a:ext>
            </a:extLst>
          </p:cNvPr>
          <p:cNvSpPr txBox="1"/>
          <p:nvPr/>
        </p:nvSpPr>
        <p:spPr>
          <a:xfrm>
            <a:off x="6078898" y="302895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min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85A1CA7-3646-75A7-47E6-4BAC3F9F7463}"/>
              </a:ext>
            </a:extLst>
          </p:cNvPr>
          <p:cNvCxnSpPr/>
          <p:nvPr/>
        </p:nvCxnSpPr>
        <p:spPr>
          <a:xfrm flipH="1">
            <a:off x="6172200" y="3333750"/>
            <a:ext cx="685800" cy="10668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D2BF754-4166-5E60-1559-A2DEAF936C26}"/>
              </a:ext>
            </a:extLst>
          </p:cNvPr>
          <p:cNvSpPr txBox="1"/>
          <p:nvPr/>
        </p:nvSpPr>
        <p:spPr>
          <a:xfrm>
            <a:off x="3246706" y="4326179"/>
            <a:ext cx="5241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lasted in Normal Mode for 5 mins at 0 PSI</a:t>
            </a:r>
          </a:p>
        </p:txBody>
      </p:sp>
    </p:spTree>
    <p:extLst>
      <p:ext uri="{BB962C8B-B14F-4D97-AF65-F5344CB8AC3E}">
        <p14:creationId xmlns:p14="http://schemas.microsoft.com/office/powerpoint/2010/main" val="4230390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A37334-FFA3-B7D7-97C2-54C7B426E4C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080609617"/>
              </p:ext>
            </p:extLst>
          </p:nvPr>
        </p:nvGraphicFramePr>
        <p:xfrm>
          <a:off x="609600" y="914400"/>
          <a:ext cx="8229600" cy="33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55315937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31113992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64141626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54582913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0157111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54236439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9138781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346381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319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10:00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02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10:09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609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10:09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9.78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054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10:14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9.42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76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10:19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9.42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907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10:20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129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10:24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678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10:29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8385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C6E1F41-1DCE-708E-F8A9-FADEC6610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68093"/>
            <a:ext cx="8153401" cy="761055"/>
          </a:xfrm>
        </p:spPr>
        <p:txBody>
          <a:bodyPr/>
          <a:lstStyle/>
          <a:p>
            <a:r>
              <a:rPr lang="en-US" sz="2400" dirty="0"/>
              <a:t>STANDBY to NORMAL to STANDBY(48:81)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67AEB-756C-8DB0-C5D2-EC80073C9A44}"/>
              </a:ext>
            </a:extLst>
          </p:cNvPr>
          <p:cNvSpPr txBox="1"/>
          <p:nvPr/>
        </p:nvSpPr>
        <p:spPr>
          <a:xfrm>
            <a:off x="3886200" y="1306123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TX from the Sensor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6E359-E892-8D3D-A183-3E55DE59C191}"/>
              </a:ext>
            </a:extLst>
          </p:cNvPr>
          <p:cNvSpPr txBox="1"/>
          <p:nvPr/>
        </p:nvSpPr>
        <p:spPr>
          <a:xfrm>
            <a:off x="2971800" y="1680729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Changed pressure from 0 PSI to 10 PSI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0E5A1-188A-F713-E351-14FE00F23259}"/>
              </a:ext>
            </a:extLst>
          </p:cNvPr>
          <p:cNvSpPr txBox="1"/>
          <p:nvPr/>
        </p:nvSpPr>
        <p:spPr>
          <a:xfrm>
            <a:off x="3124200" y="318135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Changed pressure from 10 PSI to 0 PSI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ADDA9C-3507-C5A1-EDB4-812784F3A093}"/>
              </a:ext>
            </a:extLst>
          </p:cNvPr>
          <p:cNvSpPr txBox="1"/>
          <p:nvPr/>
        </p:nvSpPr>
        <p:spPr>
          <a:xfrm>
            <a:off x="3276600" y="3879887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 TX from the Sensor </a:t>
            </a:r>
            <a:r>
              <a:rPr lang="en-US" sz="1000" dirty="0">
                <a:sym typeface="Wingdings" panose="05000000000000000000" pitchFamily="2" charset="2"/>
              </a:rPr>
              <a:t>(</a:t>
            </a:r>
            <a:r>
              <a:rPr lang="en-US" sz="1000" b="1" dirty="0">
                <a:sym typeface="Wingdings" panose="05000000000000000000" pitchFamily="2" charset="2"/>
              </a:rPr>
              <a:t>Should I expect one more Normal Mode Tx?)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4158812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875D34B-F313-A60F-B93D-A6D0BEF88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46613"/>
            <a:ext cx="8231187" cy="760413"/>
          </a:xfrm>
        </p:spPr>
        <p:txBody>
          <a:bodyPr/>
          <a:lstStyle/>
          <a:p>
            <a:r>
              <a:rPr lang="en-US" sz="2400" dirty="0"/>
              <a:t>STANDBY to NORMAL to STANDBY(48:81)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28EFCC2-D118-187B-C9C9-7BBC8A1E0E6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533400" y="1047750"/>
            <a:ext cx="8229600" cy="3298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10028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1BAA5F1F-BF75-6966-0547-DE829B912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690" y="161361"/>
            <a:ext cx="8231187" cy="760413"/>
          </a:xfrm>
        </p:spPr>
        <p:txBody>
          <a:bodyPr/>
          <a:lstStyle/>
          <a:p>
            <a:r>
              <a:rPr lang="en-US" sz="2400" dirty="0"/>
              <a:t>STANDBY to NORMAL to STANDBY(48:81)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1ADAF00-E312-6EC5-C8CD-39E0CD6A81E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1447800" y="914400"/>
            <a:ext cx="680551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05098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D5741F-CC4B-E831-3E55-BD95EAF48EC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Standby Mode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r>
              <a:rPr lang="en-US" dirty="0"/>
              <a:t>The Sensor does not transmit any advertisements during Standby Mode for both the Sensors</a:t>
            </a:r>
          </a:p>
          <a:p>
            <a:r>
              <a:rPr lang="en-US" dirty="0"/>
              <a:t>Standby to Normal Mode(</a:t>
            </a:r>
            <a:r>
              <a:rPr lang="el-GR" b="0" dirty="0"/>
              <a:t>Δ</a:t>
            </a:r>
            <a:r>
              <a:rPr lang="en-US" b="0" dirty="0"/>
              <a:t> P ≥ 4PSI)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 </a:t>
            </a:r>
            <a:endParaRPr lang="en-US" dirty="0"/>
          </a:p>
          <a:p>
            <a:pPr lvl="1"/>
            <a:r>
              <a:rPr lang="en-US" dirty="0"/>
              <a:t>When the pressure was increased from 0 PSI to 10 PSI both the Sensors go into Normal Mode</a:t>
            </a:r>
          </a:p>
          <a:p>
            <a:pPr lvl="1"/>
            <a:r>
              <a:rPr lang="en-US" dirty="0"/>
              <a:t>The Normal Mode advertisements are transmitted every 5 mins</a:t>
            </a:r>
          </a:p>
          <a:p>
            <a:r>
              <a:rPr lang="en-US" dirty="0"/>
              <a:t>Normal to Standby Mode(P&lt;3 PSI for 10 mins) -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pPr lvl="1"/>
            <a:r>
              <a:rPr lang="en-US" dirty="0"/>
              <a:t>Sensor B7:0C- At 10:30 AM, do we expect the Sensor to transmit one more normal mode adv?)</a:t>
            </a:r>
          </a:p>
          <a:p>
            <a:pPr lvl="1"/>
            <a:r>
              <a:rPr lang="en-US" dirty="0"/>
              <a:t>Sensor 48:81- At 10:29 AM, do we expect the Sensor to transmit one more normal mode adv?)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E5D824-7667-C278-E744-A159F6E9A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947138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7AA6DA-C536-8F70-80BE-C4AD17AF5C4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517699308"/>
              </p:ext>
            </p:extLst>
          </p:nvPr>
        </p:nvGraphicFramePr>
        <p:xfrm>
          <a:off x="609601" y="796082"/>
          <a:ext cx="8229600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3998301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16948520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8689544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1838916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41975733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8228776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400163167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102094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119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11:28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9.42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164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11:29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3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11:30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DELTA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40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11:33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85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11:38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08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11:38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46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11:39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DELTA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9.42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415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11:43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9.42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64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11:48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9.42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440942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C52325E-CF19-DE43-A056-C87477D3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Normal to Delta P to Normal(B7:0C)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11EDA-1A78-F655-084B-EDF7DC26EC8A}"/>
              </a:ext>
            </a:extLst>
          </p:cNvPr>
          <p:cNvSpPr txBox="1"/>
          <p:nvPr/>
        </p:nvSpPr>
        <p:spPr>
          <a:xfrm>
            <a:off x="2743200" y="150495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10 PSI to 50 PSI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9C8C1A-FB00-D075-E7EC-1787845CFCEF}"/>
              </a:ext>
            </a:extLst>
          </p:cNvPr>
          <p:cNvSpPr txBox="1"/>
          <p:nvPr/>
        </p:nvSpPr>
        <p:spPr>
          <a:xfrm>
            <a:off x="2743200" y="302895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Decreased Pressure from 10 PSI to 50 PSI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07EE6E-9C86-762B-D9FB-2A7785F541D0}"/>
              </a:ext>
            </a:extLst>
          </p:cNvPr>
          <p:cNvCxnSpPr>
            <a:cxnSpLocks/>
          </p:cNvCxnSpPr>
          <p:nvPr/>
        </p:nvCxnSpPr>
        <p:spPr>
          <a:xfrm>
            <a:off x="608014" y="2190750"/>
            <a:ext cx="80787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83E665-3EB0-A892-4D6E-CDB4FE6A9F06}"/>
              </a:ext>
            </a:extLst>
          </p:cNvPr>
          <p:cNvCxnSpPr/>
          <p:nvPr/>
        </p:nvCxnSpPr>
        <p:spPr>
          <a:xfrm flipV="1">
            <a:off x="8686800" y="1962150"/>
            <a:ext cx="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1B6CBF-CBAD-D595-EDA5-669D105B566C}"/>
              </a:ext>
            </a:extLst>
          </p:cNvPr>
          <p:cNvCxnSpPr/>
          <p:nvPr/>
        </p:nvCxnSpPr>
        <p:spPr>
          <a:xfrm flipH="1">
            <a:off x="608014" y="1962150"/>
            <a:ext cx="80787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004A62C-67A4-F974-6A0C-9BF0CD0F64AA}"/>
              </a:ext>
            </a:extLst>
          </p:cNvPr>
          <p:cNvCxnSpPr/>
          <p:nvPr/>
        </p:nvCxnSpPr>
        <p:spPr>
          <a:xfrm>
            <a:off x="608014" y="1962150"/>
            <a:ext cx="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D77CBF-D37C-E448-8ECA-78D9D7AE4D04}"/>
              </a:ext>
            </a:extLst>
          </p:cNvPr>
          <p:cNvCxnSpPr/>
          <p:nvPr/>
        </p:nvCxnSpPr>
        <p:spPr>
          <a:xfrm>
            <a:off x="608014" y="3714750"/>
            <a:ext cx="82311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77EAFF8-ABE8-DD67-A33C-41F584611E3D}"/>
              </a:ext>
            </a:extLst>
          </p:cNvPr>
          <p:cNvCxnSpPr/>
          <p:nvPr/>
        </p:nvCxnSpPr>
        <p:spPr>
          <a:xfrm flipV="1">
            <a:off x="8839201" y="3398282"/>
            <a:ext cx="0" cy="3164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79DAB8-3A16-DD5B-C482-7F55D1FAB71E}"/>
              </a:ext>
            </a:extLst>
          </p:cNvPr>
          <p:cNvCxnSpPr/>
          <p:nvPr/>
        </p:nvCxnSpPr>
        <p:spPr>
          <a:xfrm flipH="1">
            <a:off x="608014" y="3398282"/>
            <a:ext cx="82311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C8F835-AF02-DB61-0383-FC6CEF273FF5}"/>
              </a:ext>
            </a:extLst>
          </p:cNvPr>
          <p:cNvCxnSpPr/>
          <p:nvPr/>
        </p:nvCxnSpPr>
        <p:spPr>
          <a:xfrm>
            <a:off x="608014" y="3398282"/>
            <a:ext cx="0" cy="3164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5798AD-7A63-8156-8809-27B8337E54C5}"/>
              </a:ext>
            </a:extLst>
          </p:cNvPr>
          <p:cNvCxnSpPr/>
          <p:nvPr/>
        </p:nvCxnSpPr>
        <p:spPr>
          <a:xfrm>
            <a:off x="7391400" y="2190750"/>
            <a:ext cx="685800" cy="762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2E01A0A-6F7E-04B2-503A-7CC833EC1C46}"/>
              </a:ext>
            </a:extLst>
          </p:cNvPr>
          <p:cNvSpPr txBox="1"/>
          <p:nvPr/>
        </p:nvSpPr>
        <p:spPr>
          <a:xfrm>
            <a:off x="8229600" y="2144627"/>
            <a:ext cx="761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Delta P 5 secs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741498-4E1F-C4F3-0A16-1833F1F7067C}"/>
              </a:ext>
            </a:extLst>
          </p:cNvPr>
          <p:cNvCxnSpPr/>
          <p:nvPr/>
        </p:nvCxnSpPr>
        <p:spPr>
          <a:xfrm>
            <a:off x="8077200" y="3714750"/>
            <a:ext cx="458786" cy="762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F4EFAE0-8496-D90C-BFA8-7A03858C207F}"/>
              </a:ext>
            </a:extLst>
          </p:cNvPr>
          <p:cNvSpPr txBox="1"/>
          <p:nvPr/>
        </p:nvSpPr>
        <p:spPr>
          <a:xfrm>
            <a:off x="8512276" y="3672929"/>
            <a:ext cx="761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Delta P 5 secs </a:t>
            </a:r>
          </a:p>
        </p:txBody>
      </p:sp>
    </p:spTree>
    <p:extLst>
      <p:ext uri="{BB962C8B-B14F-4D97-AF65-F5344CB8AC3E}">
        <p14:creationId xmlns:p14="http://schemas.microsoft.com/office/powerpoint/2010/main" val="2889296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9E5D8C1-85A2-6401-C53E-E5A9DC60C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Delta P to Normal(B7:0C)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1620912-A8EC-C2C5-EBCB-D2CA6376577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609600" y="973878"/>
            <a:ext cx="8229600" cy="3595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18399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520D743-27BB-1525-BCEF-F26F724B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Delta P to Normal(B7:0C)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C02888-9B56-F5B2-B093-7EF0E28399F6}"/>
              </a:ext>
            </a:extLst>
          </p:cNvPr>
          <p:cNvCxnSpPr>
            <a:cxnSpLocks/>
          </p:cNvCxnSpPr>
          <p:nvPr/>
        </p:nvCxnSpPr>
        <p:spPr>
          <a:xfrm>
            <a:off x="3333750" y="3333750"/>
            <a:ext cx="342900" cy="49530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6274EF-B197-9032-FD81-C2FE79737101}"/>
              </a:ext>
            </a:extLst>
          </p:cNvPr>
          <p:cNvCxnSpPr>
            <a:cxnSpLocks/>
          </p:cNvCxnSpPr>
          <p:nvPr/>
        </p:nvCxnSpPr>
        <p:spPr>
          <a:xfrm>
            <a:off x="5791200" y="3333750"/>
            <a:ext cx="533400" cy="60960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76BD9A-948C-6E50-1F1F-AB420A7BA780}"/>
              </a:ext>
            </a:extLst>
          </p:cNvPr>
          <p:cNvSpPr txBox="1"/>
          <p:nvPr/>
        </p:nvSpPr>
        <p:spPr>
          <a:xfrm>
            <a:off x="3886200" y="3333750"/>
            <a:ext cx="838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 min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3FFD65-E0E1-FDD1-2647-401A480C8C42}"/>
              </a:ext>
            </a:extLst>
          </p:cNvPr>
          <p:cNvSpPr txBox="1"/>
          <p:nvPr/>
        </p:nvSpPr>
        <p:spPr>
          <a:xfrm>
            <a:off x="6362700" y="3257550"/>
            <a:ext cx="838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4 min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358B93C-9907-F117-366A-2F90B2497E0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6DD2CE-A567-2044-7727-861F757EA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3" y="914400"/>
            <a:ext cx="8154987" cy="336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37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BC304-8C7E-75C2-3D1A-C7C9D1132EA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99730696"/>
              </p:ext>
            </p:extLst>
          </p:nvPr>
        </p:nvGraphicFramePr>
        <p:xfrm>
          <a:off x="608013" y="914400"/>
          <a:ext cx="8231184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898">
                  <a:extLst>
                    <a:ext uri="{9D8B030D-6E8A-4147-A177-3AD203B41FA5}">
                      <a16:colId xmlns:a16="http://schemas.microsoft.com/office/drawing/2014/main" val="2097297671"/>
                    </a:ext>
                  </a:extLst>
                </a:gridCol>
                <a:gridCol w="1028898">
                  <a:extLst>
                    <a:ext uri="{9D8B030D-6E8A-4147-A177-3AD203B41FA5}">
                      <a16:colId xmlns:a16="http://schemas.microsoft.com/office/drawing/2014/main" val="99109330"/>
                    </a:ext>
                  </a:extLst>
                </a:gridCol>
                <a:gridCol w="1028898">
                  <a:extLst>
                    <a:ext uri="{9D8B030D-6E8A-4147-A177-3AD203B41FA5}">
                      <a16:colId xmlns:a16="http://schemas.microsoft.com/office/drawing/2014/main" val="3793059747"/>
                    </a:ext>
                  </a:extLst>
                </a:gridCol>
                <a:gridCol w="1028898">
                  <a:extLst>
                    <a:ext uri="{9D8B030D-6E8A-4147-A177-3AD203B41FA5}">
                      <a16:colId xmlns:a16="http://schemas.microsoft.com/office/drawing/2014/main" val="2298813383"/>
                    </a:ext>
                  </a:extLst>
                </a:gridCol>
                <a:gridCol w="1028898">
                  <a:extLst>
                    <a:ext uri="{9D8B030D-6E8A-4147-A177-3AD203B41FA5}">
                      <a16:colId xmlns:a16="http://schemas.microsoft.com/office/drawing/2014/main" val="3195610219"/>
                    </a:ext>
                  </a:extLst>
                </a:gridCol>
                <a:gridCol w="1028898">
                  <a:extLst>
                    <a:ext uri="{9D8B030D-6E8A-4147-A177-3AD203B41FA5}">
                      <a16:colId xmlns:a16="http://schemas.microsoft.com/office/drawing/2014/main" val="1174512729"/>
                    </a:ext>
                  </a:extLst>
                </a:gridCol>
                <a:gridCol w="1028898">
                  <a:extLst>
                    <a:ext uri="{9D8B030D-6E8A-4147-A177-3AD203B41FA5}">
                      <a16:colId xmlns:a16="http://schemas.microsoft.com/office/drawing/2014/main" val="1371910678"/>
                    </a:ext>
                  </a:extLst>
                </a:gridCol>
                <a:gridCol w="1028898">
                  <a:extLst>
                    <a:ext uri="{9D8B030D-6E8A-4147-A177-3AD203B41FA5}">
                      <a16:colId xmlns:a16="http://schemas.microsoft.com/office/drawing/2014/main" val="6098927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612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11:29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9.42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56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11:29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758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11:30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DELTA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36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11:34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858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11:38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515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11:39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DELTA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9.42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937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11:39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9.42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2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11:44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9.42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196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11:49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9.42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760962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CC31ACC-D373-1917-6F4F-344F2217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Normal to Delta P to Normal(48:81)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7ACEB-10DD-A39E-1C93-26A988E91CDC}"/>
              </a:ext>
            </a:extLst>
          </p:cNvPr>
          <p:cNvSpPr txBox="1"/>
          <p:nvPr/>
        </p:nvSpPr>
        <p:spPr>
          <a:xfrm>
            <a:off x="2667000" y="165735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10 PSI to 50 PSI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C65BDD-1769-669F-2DF0-80D2F41D401C}"/>
              </a:ext>
            </a:extLst>
          </p:cNvPr>
          <p:cNvSpPr txBox="1"/>
          <p:nvPr/>
        </p:nvSpPr>
        <p:spPr>
          <a:xfrm>
            <a:off x="2684206" y="274748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Decreased Pressure from 50 PSI to 10 PSI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74019C-70F7-4EB9-B527-D41BBC3B5BAC}"/>
              </a:ext>
            </a:extLst>
          </p:cNvPr>
          <p:cNvCxnSpPr/>
          <p:nvPr/>
        </p:nvCxnSpPr>
        <p:spPr>
          <a:xfrm>
            <a:off x="608014" y="2026682"/>
            <a:ext cx="0" cy="2402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14A4AC-D05F-1786-1B9F-62423596E394}"/>
              </a:ext>
            </a:extLst>
          </p:cNvPr>
          <p:cNvCxnSpPr/>
          <p:nvPr/>
        </p:nvCxnSpPr>
        <p:spPr>
          <a:xfrm>
            <a:off x="608014" y="2266950"/>
            <a:ext cx="82311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3B46BB-FE66-4FF6-BD9A-0AF7C1DD6836}"/>
              </a:ext>
            </a:extLst>
          </p:cNvPr>
          <p:cNvCxnSpPr/>
          <p:nvPr/>
        </p:nvCxnSpPr>
        <p:spPr>
          <a:xfrm>
            <a:off x="608014" y="2026682"/>
            <a:ext cx="82311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6B8C0B-6D04-23B5-BC2C-915E7C46AF4D}"/>
              </a:ext>
            </a:extLst>
          </p:cNvPr>
          <p:cNvCxnSpPr/>
          <p:nvPr/>
        </p:nvCxnSpPr>
        <p:spPr>
          <a:xfrm>
            <a:off x="8839200" y="2026682"/>
            <a:ext cx="0" cy="2402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CC79D4-53A8-6B6B-3402-6035FD12293E}"/>
              </a:ext>
            </a:extLst>
          </p:cNvPr>
          <p:cNvCxnSpPr/>
          <p:nvPr/>
        </p:nvCxnSpPr>
        <p:spPr>
          <a:xfrm>
            <a:off x="608014" y="3116819"/>
            <a:ext cx="0" cy="2931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5DA2A7-49A0-C46B-A613-7416D3EFDCB8}"/>
              </a:ext>
            </a:extLst>
          </p:cNvPr>
          <p:cNvCxnSpPr/>
          <p:nvPr/>
        </p:nvCxnSpPr>
        <p:spPr>
          <a:xfrm>
            <a:off x="608014" y="3409950"/>
            <a:ext cx="82311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55C127-9DA3-E211-C6DA-0F1E502C3001}"/>
              </a:ext>
            </a:extLst>
          </p:cNvPr>
          <p:cNvCxnSpPr>
            <a:cxnSpLocks/>
          </p:cNvCxnSpPr>
          <p:nvPr/>
        </p:nvCxnSpPr>
        <p:spPr>
          <a:xfrm>
            <a:off x="608014" y="3116819"/>
            <a:ext cx="82311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3C8B7E8-7E58-DC6C-C0D4-CC50BB64F152}"/>
              </a:ext>
            </a:extLst>
          </p:cNvPr>
          <p:cNvCxnSpPr/>
          <p:nvPr/>
        </p:nvCxnSpPr>
        <p:spPr>
          <a:xfrm>
            <a:off x="8839200" y="3116819"/>
            <a:ext cx="0" cy="2931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520B650-796E-ECE7-5DFD-22817A2C90E3}"/>
              </a:ext>
            </a:extLst>
          </p:cNvPr>
          <p:cNvCxnSpPr>
            <a:cxnSpLocks/>
          </p:cNvCxnSpPr>
          <p:nvPr/>
        </p:nvCxnSpPr>
        <p:spPr>
          <a:xfrm>
            <a:off x="6324600" y="2281712"/>
            <a:ext cx="990600" cy="937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B927476-FF80-A797-5BC6-7D54B187FAAA}"/>
              </a:ext>
            </a:extLst>
          </p:cNvPr>
          <p:cNvSpPr txBox="1"/>
          <p:nvPr/>
        </p:nvSpPr>
        <p:spPr>
          <a:xfrm>
            <a:off x="7365949" y="2214921"/>
            <a:ext cx="761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Delta P 5 secs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D034D4F-A6F9-5F57-F42B-DF73B59C6F0E}"/>
              </a:ext>
            </a:extLst>
          </p:cNvPr>
          <p:cNvCxnSpPr>
            <a:cxnSpLocks/>
          </p:cNvCxnSpPr>
          <p:nvPr/>
        </p:nvCxnSpPr>
        <p:spPr>
          <a:xfrm>
            <a:off x="6477000" y="3409950"/>
            <a:ext cx="990600" cy="762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8E4EEF3-7C37-3224-D151-2DEDEA34F87A}"/>
              </a:ext>
            </a:extLst>
          </p:cNvPr>
          <p:cNvSpPr txBox="1"/>
          <p:nvPr/>
        </p:nvSpPr>
        <p:spPr>
          <a:xfrm>
            <a:off x="7474974" y="3366524"/>
            <a:ext cx="761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Delta P 5 secs </a:t>
            </a:r>
          </a:p>
        </p:txBody>
      </p:sp>
    </p:spTree>
    <p:extLst>
      <p:ext uri="{BB962C8B-B14F-4D97-AF65-F5344CB8AC3E}">
        <p14:creationId xmlns:p14="http://schemas.microsoft.com/office/powerpoint/2010/main" val="886846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FC0E9E1-2B53-C44E-40A8-F9018FE1600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1676400" y="895350"/>
            <a:ext cx="59436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E9DA0A4C-F7B2-4052-1BAC-0616AA74D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Delta P to Normal(48:81)</a:t>
            </a:r>
          </a:p>
        </p:txBody>
      </p:sp>
    </p:spTree>
    <p:extLst>
      <p:ext uri="{BB962C8B-B14F-4D97-AF65-F5344CB8AC3E}">
        <p14:creationId xmlns:p14="http://schemas.microsoft.com/office/powerpoint/2010/main" val="1417236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F7562E-B6C2-F68C-BC27-BA5E40A6B58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Normal Mode</a:t>
            </a:r>
            <a:r>
              <a:rPr lang="en-US" b="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r>
              <a:rPr lang="en-US" dirty="0"/>
              <a:t>Both the Sensors advertised every 5 mins in Normal Mode as per the State Machine</a:t>
            </a:r>
          </a:p>
          <a:p>
            <a:r>
              <a:rPr lang="en-US" dirty="0"/>
              <a:t>Delta P Mode(</a:t>
            </a:r>
            <a:r>
              <a:rPr lang="el-GR" b="0" dirty="0"/>
              <a:t>Δ</a:t>
            </a:r>
            <a:r>
              <a:rPr lang="en-US" b="0" dirty="0"/>
              <a:t>P ≥ 30 PSI)</a:t>
            </a:r>
            <a:r>
              <a:rPr lang="en-US" b="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r>
              <a:rPr lang="en-US" dirty="0"/>
              <a:t>Both the Sensors entered Delta P Mode when the pressure was increased from 10 PSI to 50 PSI.</a:t>
            </a:r>
          </a:p>
          <a:p>
            <a:pPr lvl="1"/>
            <a:r>
              <a:rPr lang="en-US" dirty="0"/>
              <a:t>The Delta P time observed for both the Sensors was 5 seconds in total</a:t>
            </a:r>
          </a:p>
          <a:p>
            <a:r>
              <a:rPr lang="en-US" dirty="0"/>
              <a:t>Delta P Mode to Normal Mode</a:t>
            </a:r>
            <a:r>
              <a:rPr lang="en-US" b="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dirty="0"/>
          </a:p>
          <a:p>
            <a:pPr lvl="1"/>
            <a:r>
              <a:rPr lang="en-US" dirty="0"/>
              <a:t>Both the Sensors exited from Delta P Mode back to Normal Mode as per the State Machine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9C11BE-E565-2289-C6B1-AEB3D4D09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959299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6C8D74-8409-5902-09BF-BBD8C2C737E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000" dirty="0"/>
              <a:t>Condition Tested- </a:t>
            </a:r>
          </a:p>
          <a:p>
            <a:pPr lvl="1"/>
            <a:r>
              <a:rPr lang="en-US" sz="1000" dirty="0"/>
              <a:t>Normal to Monitoring(P≥80 PSI)</a:t>
            </a:r>
          </a:p>
          <a:p>
            <a:pPr lvl="1"/>
            <a:r>
              <a:rPr lang="en-US" sz="1000" dirty="0"/>
              <a:t>Monitoring to Normal(P&lt;60 PSI)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98EBD6-8025-E619-208C-23E0C52F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Normal to Monitoring to Normal(B7:0C)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90360C-A477-1434-B669-84269D68A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611145"/>
              </p:ext>
            </p:extLst>
          </p:nvPr>
        </p:nvGraphicFramePr>
        <p:xfrm>
          <a:off x="494507" y="1461135"/>
          <a:ext cx="8458200" cy="264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593256334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3096448369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54894582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985558726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69358629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755360951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764752093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11117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81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7:52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70.34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582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7:57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70.34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44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7:57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679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7:58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84.84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077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8:23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84.84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 min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557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8:49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84.84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3720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086C798-8159-F18E-AD3F-1864DAD276BD}"/>
              </a:ext>
            </a:extLst>
          </p:cNvPr>
          <p:cNvSpPr txBox="1"/>
          <p:nvPr/>
        </p:nvSpPr>
        <p:spPr>
          <a:xfrm>
            <a:off x="2940050" y="255905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70 PSI to 85 PSI</a:t>
            </a:r>
          </a:p>
        </p:txBody>
      </p:sp>
    </p:spTree>
    <p:extLst>
      <p:ext uri="{BB962C8B-B14F-4D97-AF65-F5344CB8AC3E}">
        <p14:creationId xmlns:p14="http://schemas.microsoft.com/office/powerpoint/2010/main" val="910201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C378AA1-5438-CDFF-829B-0B9320BDE5B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873144239"/>
              </p:ext>
            </p:extLst>
          </p:nvPr>
        </p:nvGraphicFramePr>
        <p:xfrm>
          <a:off x="609600" y="914400"/>
          <a:ext cx="82296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18699084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7542527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488148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70029112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05905518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19335098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6869255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15391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460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9:14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84.84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448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9:17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639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9:18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925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9:23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389253"/>
                  </a:ext>
                </a:extLst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39D3BF57-EFC9-0F84-99C3-7BAA3532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Normal(B7:0C)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9F7805-5045-AAD9-E270-85CD9F00308B}"/>
              </a:ext>
            </a:extLst>
          </p:cNvPr>
          <p:cNvSpPr txBox="1"/>
          <p:nvPr/>
        </p:nvSpPr>
        <p:spPr>
          <a:xfrm>
            <a:off x="2819400" y="1668780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Decreased pressure from 85 PSI to 50 PSI</a:t>
            </a:r>
          </a:p>
        </p:txBody>
      </p:sp>
    </p:spTree>
    <p:extLst>
      <p:ext uri="{BB962C8B-B14F-4D97-AF65-F5344CB8AC3E}">
        <p14:creationId xmlns:p14="http://schemas.microsoft.com/office/powerpoint/2010/main" val="4093458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B32BC6-5779-913D-2D45-5230EAD39B3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914400" y="760412"/>
            <a:ext cx="7619999" cy="3868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88B2A791-CBB4-E6C6-8F29-28A8C5538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Normal(B7:0C)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C80BAC-71E9-A541-3EC5-4F5DF7DED01F}"/>
              </a:ext>
            </a:extLst>
          </p:cNvPr>
          <p:cNvCxnSpPr/>
          <p:nvPr/>
        </p:nvCxnSpPr>
        <p:spPr>
          <a:xfrm flipH="1">
            <a:off x="762000" y="1809750"/>
            <a:ext cx="228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2AB146-DB94-7A80-C188-4C79D838AA8E}"/>
              </a:ext>
            </a:extLst>
          </p:cNvPr>
          <p:cNvCxnSpPr/>
          <p:nvPr/>
        </p:nvCxnSpPr>
        <p:spPr>
          <a:xfrm flipH="1">
            <a:off x="762000" y="1885950"/>
            <a:ext cx="228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C7F361-8F58-A40B-DA43-C537957BFF82}"/>
              </a:ext>
            </a:extLst>
          </p:cNvPr>
          <p:cNvCxnSpPr/>
          <p:nvPr/>
        </p:nvCxnSpPr>
        <p:spPr>
          <a:xfrm>
            <a:off x="762000" y="1809750"/>
            <a:ext cx="0" cy="76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E9E663C-6B19-3E6B-1A82-4C80770D29D9}"/>
              </a:ext>
            </a:extLst>
          </p:cNvPr>
          <p:cNvSpPr txBox="1"/>
          <p:nvPr/>
        </p:nvSpPr>
        <p:spPr>
          <a:xfrm>
            <a:off x="19050" y="1647795"/>
            <a:ext cx="990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Normal to Monitoring</a:t>
            </a:r>
          </a:p>
        </p:txBody>
      </p:sp>
    </p:spTree>
    <p:extLst>
      <p:ext uri="{BB962C8B-B14F-4D97-AF65-F5344CB8AC3E}">
        <p14:creationId xmlns:p14="http://schemas.microsoft.com/office/powerpoint/2010/main" val="4014397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CCDE0B-7527-9665-3993-71A4C0AECD1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901867" y="895350"/>
            <a:ext cx="7340266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5AA47644-09D4-D0FA-B006-B730328D1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Normal(B7:0C)</a:t>
            </a:r>
          </a:p>
        </p:txBody>
      </p:sp>
    </p:spTree>
    <p:extLst>
      <p:ext uri="{BB962C8B-B14F-4D97-AF65-F5344CB8AC3E}">
        <p14:creationId xmlns:p14="http://schemas.microsoft.com/office/powerpoint/2010/main" val="3791584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883D32E-2E20-1761-DAFA-D3B25E0C885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967798767"/>
              </p:ext>
            </p:extLst>
          </p:nvPr>
        </p:nvGraphicFramePr>
        <p:xfrm>
          <a:off x="608013" y="733989"/>
          <a:ext cx="8229600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69069778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19993825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30325272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56843381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122988985"/>
                    </a:ext>
                  </a:extLst>
                </a:gridCol>
                <a:gridCol w="1030287">
                  <a:extLst>
                    <a:ext uri="{9D8B030D-6E8A-4147-A177-3AD203B41FA5}">
                      <a16:colId xmlns:a16="http://schemas.microsoft.com/office/drawing/2014/main" val="565499967"/>
                    </a:ext>
                  </a:extLst>
                </a:gridCol>
                <a:gridCol w="1027113">
                  <a:extLst>
                    <a:ext uri="{9D8B030D-6E8A-4147-A177-3AD203B41FA5}">
                      <a16:colId xmlns:a16="http://schemas.microsoft.com/office/drawing/2014/main" val="148947739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643867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105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7:52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70.34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87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7:57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70.34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83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7:57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46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7: 58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84.84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87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8:24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84.84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91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8:49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84.84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982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9:15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84.84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406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9:17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151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9:18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753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9:23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949014"/>
                  </a:ext>
                </a:extLst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4480E8B0-80F5-F503-963F-8C4D0E3BF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Normal(48:81)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BAF9C3-0F1C-56C4-A976-D6C03A5476C5}"/>
              </a:ext>
            </a:extLst>
          </p:cNvPr>
          <p:cNvSpPr txBox="1"/>
          <p:nvPr/>
        </p:nvSpPr>
        <p:spPr>
          <a:xfrm>
            <a:off x="2796406" y="1868249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70 to 85 PSI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FA34C6-BBA8-E596-44A8-38F8F8331064}"/>
              </a:ext>
            </a:extLst>
          </p:cNvPr>
          <p:cNvSpPr txBox="1"/>
          <p:nvPr/>
        </p:nvSpPr>
        <p:spPr>
          <a:xfrm>
            <a:off x="2818529" y="3714750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Decreased pressure from 85 PSI to 50 PSI</a:t>
            </a:r>
          </a:p>
        </p:txBody>
      </p:sp>
    </p:spTree>
    <p:extLst>
      <p:ext uri="{BB962C8B-B14F-4D97-AF65-F5344CB8AC3E}">
        <p14:creationId xmlns:p14="http://schemas.microsoft.com/office/powerpoint/2010/main" val="1451435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61A19F6C-031F-6E89-8A31-499C92B7A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Normal(48:81)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AEB2E0B9-E3D8-34A2-E5C3-9C5D75DE00A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1076482" y="914400"/>
            <a:ext cx="7295835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8A467BF-D59C-2A91-A3F4-4024253D3CDB}"/>
              </a:ext>
            </a:extLst>
          </p:cNvPr>
          <p:cNvSpPr txBox="1"/>
          <p:nvPr/>
        </p:nvSpPr>
        <p:spPr>
          <a:xfrm>
            <a:off x="457200" y="2266950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Normal to Monitoring</a:t>
            </a:r>
          </a:p>
        </p:txBody>
      </p:sp>
    </p:spTree>
    <p:extLst>
      <p:ext uri="{BB962C8B-B14F-4D97-AF65-F5344CB8AC3E}">
        <p14:creationId xmlns:p14="http://schemas.microsoft.com/office/powerpoint/2010/main" val="2805717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45862D-627B-2EA4-FE50-E27AC3A1891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1138842" y="914400"/>
            <a:ext cx="7171115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BD2C2A1A-81C1-1091-B0B6-3EFCE7EA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Normal(48:81)</a:t>
            </a:r>
          </a:p>
        </p:txBody>
      </p:sp>
    </p:spTree>
    <p:extLst>
      <p:ext uri="{BB962C8B-B14F-4D97-AF65-F5344CB8AC3E}">
        <p14:creationId xmlns:p14="http://schemas.microsoft.com/office/powerpoint/2010/main" val="1690380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E9B424-F57F-93B4-BAC7-926AEB38ED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Normal Mode</a:t>
            </a:r>
            <a:r>
              <a:rPr lang="en-US" b="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dirty="0"/>
          </a:p>
          <a:p>
            <a:pPr lvl="1"/>
            <a:r>
              <a:rPr lang="en-US" dirty="0"/>
              <a:t>Both the Sensors advertised every 5 mins in Normal Mode as per the State Machine</a:t>
            </a:r>
          </a:p>
          <a:p>
            <a:r>
              <a:rPr lang="en-US" dirty="0"/>
              <a:t>Normal to Monitoring Mode(P≥80 PSI)</a:t>
            </a:r>
            <a:r>
              <a:rPr lang="en-US" b="0" dirty="0">
                <a:solidFill>
                  <a:srgbClr val="00B050"/>
                </a:solidFill>
                <a:sym typeface="Wingdings" panose="05000000000000000000" pitchFamily="2" charset="2"/>
              </a:rPr>
              <a:t> </a:t>
            </a:r>
            <a:endParaRPr lang="en-US" dirty="0"/>
          </a:p>
          <a:p>
            <a:pPr lvl="1"/>
            <a:r>
              <a:rPr lang="en-US" dirty="0"/>
              <a:t>Both the Sensors enter Monitoring Mode from Normal Mode when the Pressure applied to the Sensors is increased beyond 80 PSI</a:t>
            </a:r>
          </a:p>
          <a:p>
            <a:pPr lvl="1"/>
            <a:r>
              <a:rPr lang="en-US" dirty="0"/>
              <a:t>Both the Sensors transmitted every 25 mins in Monitoring Mode as per the State Machine</a:t>
            </a:r>
          </a:p>
          <a:p>
            <a:r>
              <a:rPr lang="en-US" dirty="0"/>
              <a:t>Monitoring Mode to Normal Mode(P&lt;60 PSI)</a:t>
            </a:r>
            <a:r>
              <a:rPr lang="en-US" b="0" dirty="0">
                <a:solidFill>
                  <a:srgbClr val="00B050"/>
                </a:solidFill>
                <a:sym typeface="Wingdings" panose="05000000000000000000" pitchFamily="2" charset="2"/>
              </a:rPr>
              <a:t> </a:t>
            </a:r>
            <a:endParaRPr lang="en-US" dirty="0"/>
          </a:p>
          <a:p>
            <a:pPr lvl="1"/>
            <a:r>
              <a:rPr lang="en-US" dirty="0"/>
              <a:t>Both the Sensors returned to Normal Mode from Monitoring Mode when the Pressure Applied was less than 60 PSI                         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29E9F8-8019-6635-D667-49AD87FB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8774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18FB9B-B88E-A612-9059-9B40E639C1F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1000" dirty="0"/>
              <a:t>Condition Tested</a:t>
            </a:r>
          </a:p>
          <a:p>
            <a:pPr lvl="1"/>
            <a:r>
              <a:rPr lang="en-US" sz="1000" dirty="0"/>
              <a:t>Normal to Monitoring(</a:t>
            </a:r>
            <a:r>
              <a:rPr lang="el-GR" sz="1000" b="0" dirty="0"/>
              <a:t>Δ</a:t>
            </a:r>
            <a:r>
              <a:rPr lang="en-US" sz="1000" b="0" dirty="0"/>
              <a:t>P&lt;5 PSI for 15 mins)</a:t>
            </a:r>
          </a:p>
          <a:p>
            <a:pPr lvl="1"/>
            <a:r>
              <a:rPr lang="en-US" sz="1000" dirty="0"/>
              <a:t>Monitoring to Normal</a:t>
            </a:r>
            <a:r>
              <a:rPr lang="en-US" sz="1000" b="0" dirty="0"/>
              <a:t>(</a:t>
            </a:r>
            <a:r>
              <a:rPr lang="el-GR" sz="1000" b="0" dirty="0"/>
              <a:t>Δ</a:t>
            </a:r>
            <a:r>
              <a:rPr lang="en-US" sz="1000" b="0" dirty="0"/>
              <a:t>P&gt;4.5 PSI for 15 mins)</a:t>
            </a:r>
          </a:p>
          <a:p>
            <a:pPr marL="457200" lvl="1" indent="0">
              <a:buNone/>
            </a:pPr>
            <a:endParaRPr lang="en-US" sz="1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AC2155-214E-89C6-5843-610055BE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Normal to Monitoring to Normal(B7:0C)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576E48-13FA-9D69-2B6B-53F7CE8F7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989149"/>
              </p:ext>
            </p:extLst>
          </p:nvPr>
        </p:nvGraphicFramePr>
        <p:xfrm>
          <a:off x="608014" y="1608323"/>
          <a:ext cx="8077200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650">
                  <a:extLst>
                    <a:ext uri="{9D8B030D-6E8A-4147-A177-3AD203B41FA5}">
                      <a16:colId xmlns:a16="http://schemas.microsoft.com/office/drawing/2014/main" val="358458685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5132371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113200547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367005454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3537389377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6439698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4249381769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638727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824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1:09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492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1:10 PM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165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1:15 PM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52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1:20 PM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803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1:20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51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604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1:21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7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1:22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53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5543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7DC68-A691-203B-1BE1-5B4BCEE2DDD0}"/>
              </a:ext>
            </a:extLst>
          </p:cNvPr>
          <p:cNvSpPr txBox="1"/>
          <p:nvPr/>
        </p:nvSpPr>
        <p:spPr>
          <a:xfrm>
            <a:off x="2819400" y="2080024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0(Standby) to 50 PSI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36964F-9DDE-034D-C25F-4EFBFABC0EE3}"/>
              </a:ext>
            </a:extLst>
          </p:cNvPr>
          <p:cNvSpPr txBox="1"/>
          <p:nvPr/>
        </p:nvSpPr>
        <p:spPr>
          <a:xfrm>
            <a:off x="2843917" y="3591931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50 to 51 PSI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A8BBB-DB71-3323-B342-7FC6D9E9CEB7}"/>
              </a:ext>
            </a:extLst>
          </p:cNvPr>
          <p:cNvSpPr txBox="1"/>
          <p:nvPr/>
        </p:nvSpPr>
        <p:spPr>
          <a:xfrm>
            <a:off x="2843917" y="3984844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51 to 52 PSI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9E2B74-24B9-FFE7-4B80-33882D40C271}"/>
              </a:ext>
            </a:extLst>
          </p:cNvPr>
          <p:cNvSpPr txBox="1"/>
          <p:nvPr/>
        </p:nvSpPr>
        <p:spPr>
          <a:xfrm>
            <a:off x="2843917" y="4349780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52 to 53 PSI</a:t>
            </a:r>
          </a:p>
        </p:txBody>
      </p:sp>
    </p:spTree>
    <p:extLst>
      <p:ext uri="{BB962C8B-B14F-4D97-AF65-F5344CB8AC3E}">
        <p14:creationId xmlns:p14="http://schemas.microsoft.com/office/powerpoint/2010/main" val="195636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B5016E4-88A8-060D-2B04-8990774E35C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904873731"/>
              </p:ext>
            </p:extLst>
          </p:nvPr>
        </p:nvGraphicFramePr>
        <p:xfrm>
          <a:off x="609600" y="914400"/>
          <a:ext cx="822960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330601892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86981950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09469121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14003537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53096314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7061698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16983204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541384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808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1:23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10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1:25 PM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53.66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74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1:26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53.66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 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38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1:27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53.66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056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1:32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53.66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63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1:37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53.66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270030"/>
                  </a:ext>
                </a:extLst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93E3D43D-CC07-1F72-8491-B0A8526C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Normal(B7:0C)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B6A16-CD16-3C0D-0EAD-2C726013437F}"/>
              </a:ext>
            </a:extLst>
          </p:cNvPr>
          <p:cNvSpPr txBox="1"/>
          <p:nvPr/>
        </p:nvSpPr>
        <p:spPr>
          <a:xfrm>
            <a:off x="2819400" y="1299448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53 to 54 PSI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BDF957-9FFC-7DB9-D229-6B7FB36F0A64}"/>
              </a:ext>
            </a:extLst>
          </p:cNvPr>
          <p:cNvCxnSpPr/>
          <p:nvPr/>
        </p:nvCxnSpPr>
        <p:spPr>
          <a:xfrm>
            <a:off x="685800" y="2038350"/>
            <a:ext cx="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11A572-33CD-0791-1BA4-27111223A438}"/>
              </a:ext>
            </a:extLst>
          </p:cNvPr>
          <p:cNvCxnSpPr/>
          <p:nvPr/>
        </p:nvCxnSpPr>
        <p:spPr>
          <a:xfrm>
            <a:off x="685800" y="2343150"/>
            <a:ext cx="8001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8592FB-29A6-E142-BEE6-0E4F0E6FF35A}"/>
              </a:ext>
            </a:extLst>
          </p:cNvPr>
          <p:cNvCxnSpPr/>
          <p:nvPr/>
        </p:nvCxnSpPr>
        <p:spPr>
          <a:xfrm>
            <a:off x="685800" y="2038350"/>
            <a:ext cx="8001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07F60D-A2BE-41FD-91AC-B0020D5D7C6B}"/>
              </a:ext>
            </a:extLst>
          </p:cNvPr>
          <p:cNvCxnSpPr/>
          <p:nvPr/>
        </p:nvCxnSpPr>
        <p:spPr>
          <a:xfrm>
            <a:off x="8686800" y="2038350"/>
            <a:ext cx="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231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289F6A4-CB3C-982A-C0A5-214C4631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Normal(B7:0C)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35C211F-4750-250F-6477-350E3C495E5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1007008" y="914400"/>
            <a:ext cx="7434783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23369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A08283-8478-1ECC-D01D-48482C235F8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1171080" y="914400"/>
            <a:ext cx="7106639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65382ED1-F355-E378-28BA-97377BFAC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Normal(B7:0C)</a:t>
            </a:r>
          </a:p>
        </p:txBody>
      </p:sp>
    </p:spTree>
    <p:extLst>
      <p:ext uri="{BB962C8B-B14F-4D97-AF65-F5344CB8AC3E}">
        <p14:creationId xmlns:p14="http://schemas.microsoft.com/office/powerpoint/2010/main" val="910184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60BE19F-F3D2-38A5-2D32-FD2EAEACD7DA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392699449"/>
              </p:ext>
            </p:extLst>
          </p:nvPr>
        </p:nvGraphicFramePr>
        <p:xfrm>
          <a:off x="608013" y="907018"/>
          <a:ext cx="8229600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12837130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133834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47897618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58372718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33624148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9551999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59294302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5423480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888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1:09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638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1:09 PM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613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1:14 PM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279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1:19 PM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50.03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86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1:20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51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000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1:21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52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101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1:22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53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27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1:23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47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1:25 PM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53.66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92549"/>
                  </a:ext>
                </a:extLst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25179B23-C716-9E1B-EBF3-7667B0E1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Normal(48:81)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220DC6-ECA5-7B76-6364-FB9E8314DD36}"/>
              </a:ext>
            </a:extLst>
          </p:cNvPr>
          <p:cNvSpPr txBox="1"/>
          <p:nvPr/>
        </p:nvSpPr>
        <p:spPr>
          <a:xfrm>
            <a:off x="2967824" y="1276350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0(Standby) to 50 PSI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17872E-A78B-DF19-7288-9C78A78E3ACB}"/>
              </a:ext>
            </a:extLst>
          </p:cNvPr>
          <p:cNvSpPr txBox="1"/>
          <p:nvPr/>
        </p:nvSpPr>
        <p:spPr>
          <a:xfrm>
            <a:off x="2967824" y="2800350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50 to 51 PSI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848E89-939C-224E-875D-EFEA2933B3A0}"/>
              </a:ext>
            </a:extLst>
          </p:cNvPr>
          <p:cNvSpPr txBox="1"/>
          <p:nvPr/>
        </p:nvSpPr>
        <p:spPr>
          <a:xfrm>
            <a:off x="2967824" y="3139003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51 to 52 PSI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44F9C7-3DA0-A6C9-DEBA-5B08E866C17D}"/>
              </a:ext>
            </a:extLst>
          </p:cNvPr>
          <p:cNvSpPr txBox="1"/>
          <p:nvPr/>
        </p:nvSpPr>
        <p:spPr>
          <a:xfrm>
            <a:off x="2967824" y="3472805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52 to 53 PSI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83EBB-815D-7DD1-405E-57F2C508D5B0}"/>
              </a:ext>
            </a:extLst>
          </p:cNvPr>
          <p:cNvSpPr txBox="1"/>
          <p:nvPr/>
        </p:nvSpPr>
        <p:spPr>
          <a:xfrm>
            <a:off x="2967824" y="3867150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53 to 54 PSI</a:t>
            </a:r>
          </a:p>
        </p:txBody>
      </p:sp>
    </p:spTree>
    <p:extLst>
      <p:ext uri="{BB962C8B-B14F-4D97-AF65-F5344CB8AC3E}">
        <p14:creationId xmlns:p14="http://schemas.microsoft.com/office/powerpoint/2010/main" val="3611187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DB8531C-4E4B-971E-CBC7-A6880D6D3F7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265376102"/>
              </p:ext>
            </p:extLst>
          </p:nvPr>
        </p:nvGraphicFramePr>
        <p:xfrm>
          <a:off x="609600" y="914400"/>
          <a:ext cx="82296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50305213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45477397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8219552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79259108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30237036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55988156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97725097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1178916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14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1:26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53.29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8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1:27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53.66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905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1:32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53.29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67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1:37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53.29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544537"/>
                  </a:ext>
                </a:extLst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D98983CA-F2FE-911E-8D12-FADAE0481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Normal(48:81)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DB62FA-7937-BD1F-6834-C16EAA73CC0A}"/>
              </a:ext>
            </a:extLst>
          </p:cNvPr>
          <p:cNvCxnSpPr/>
          <p:nvPr/>
        </p:nvCxnSpPr>
        <p:spPr>
          <a:xfrm>
            <a:off x="608013" y="1581150"/>
            <a:ext cx="80787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D3A6B1-EE16-7513-680C-A39CE1ABAB23}"/>
              </a:ext>
            </a:extLst>
          </p:cNvPr>
          <p:cNvCxnSpPr/>
          <p:nvPr/>
        </p:nvCxnSpPr>
        <p:spPr>
          <a:xfrm flipV="1">
            <a:off x="8686800" y="1276350"/>
            <a:ext cx="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B20894-F9F7-7D71-17A8-EB419761F3A9}"/>
              </a:ext>
            </a:extLst>
          </p:cNvPr>
          <p:cNvCxnSpPr/>
          <p:nvPr/>
        </p:nvCxnSpPr>
        <p:spPr>
          <a:xfrm flipH="1">
            <a:off x="608013" y="1276350"/>
            <a:ext cx="80787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F7C5B6-F78A-53BF-7B84-368278CDF031}"/>
              </a:ext>
            </a:extLst>
          </p:cNvPr>
          <p:cNvCxnSpPr/>
          <p:nvPr/>
        </p:nvCxnSpPr>
        <p:spPr>
          <a:xfrm>
            <a:off x="608013" y="1276350"/>
            <a:ext cx="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2660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CEF23F4-BF19-0A7A-8E9D-91340FDC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Normal(48:81)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B0EE6B6-2633-73E7-85F1-3A8E6391E0F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984345" y="914400"/>
            <a:ext cx="7480109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15975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F40457E-53C7-08BC-8239-81A5444930E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1696064" y="819150"/>
            <a:ext cx="6055083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CB2DBD5-29D2-259D-ADB8-B048B756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Normal(48:81)</a:t>
            </a:r>
          </a:p>
        </p:txBody>
      </p:sp>
    </p:spTree>
    <p:extLst>
      <p:ext uri="{BB962C8B-B14F-4D97-AF65-F5344CB8AC3E}">
        <p14:creationId xmlns:p14="http://schemas.microsoft.com/office/powerpoint/2010/main" val="22628030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7AB808-CCBE-5D15-A861-3A6627F029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Normal Mode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dirty="0"/>
          </a:p>
          <a:p>
            <a:pPr lvl="1"/>
            <a:r>
              <a:rPr lang="en-US" dirty="0"/>
              <a:t>Both the Sensors advertised every 5 mins in Normal Mode as per the State Machine</a:t>
            </a:r>
          </a:p>
          <a:p>
            <a:r>
              <a:rPr lang="en-US" dirty="0"/>
              <a:t>Normal Mode to Monitoring Mode</a:t>
            </a:r>
            <a:r>
              <a:rPr lang="el-GR" b="0" dirty="0"/>
              <a:t> </a:t>
            </a:r>
            <a:r>
              <a:rPr lang="en-US" b="0" dirty="0"/>
              <a:t>(</a:t>
            </a:r>
            <a:r>
              <a:rPr lang="el-GR" b="0" dirty="0"/>
              <a:t>Δ</a:t>
            </a:r>
            <a:r>
              <a:rPr lang="en-US" b="0" dirty="0"/>
              <a:t>P&lt;5 PSI for 15 mins) </a:t>
            </a:r>
            <a:r>
              <a:rPr lang="en-US" dirty="0">
                <a:solidFill>
                  <a:srgbClr val="FF0000"/>
                </a:solidFill>
              </a:rPr>
              <a:t>X</a:t>
            </a:r>
          </a:p>
          <a:p>
            <a:pPr lvl="1"/>
            <a:r>
              <a:rPr lang="en-US" sz="1900" dirty="0"/>
              <a:t>Both the Sensors do not satisfy this condition</a:t>
            </a:r>
          </a:p>
          <a:p>
            <a:pPr lvl="1"/>
            <a:r>
              <a:rPr lang="en-US" sz="1900" dirty="0"/>
              <a:t>Why did Sensor B7:0C enter Monitoring Mode at 1:26 PM and exit Monitoring Mode at 1:27 PM?</a:t>
            </a:r>
          </a:p>
          <a:p>
            <a:pPr lvl="1"/>
            <a:r>
              <a:rPr lang="en-US" sz="1900" dirty="0"/>
              <a:t>Why did Sensor 48:81 enter Monitoring Mode at 1:26 PM and exit Monitoring Mode at  1:27 PM?</a:t>
            </a:r>
          </a:p>
          <a:p>
            <a:pPr marL="457200" lvl="1" indent="0">
              <a:buNone/>
            </a:pPr>
            <a:endParaRPr lang="en-US" sz="1900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E20F0C-EA72-560A-4525-09CC122F4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4599826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76D1FFE-E272-D7F0-98BB-AA75A35E6F64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152617575"/>
              </p:ext>
            </p:extLst>
          </p:nvPr>
        </p:nvGraphicFramePr>
        <p:xfrm>
          <a:off x="608013" y="760413"/>
          <a:ext cx="8229600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414303060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1410028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5625142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4643787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416815544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2206578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44622479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4570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907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10:39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53.29 PSI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28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10:44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97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10:44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53.29 PSI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67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10:49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56.56 PSI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298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10:54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56.56 PSI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158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10:55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56.56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648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11:00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56.56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9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11:05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56.56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375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11:10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56.56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096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11:11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56.56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046551"/>
                  </a:ext>
                </a:extLst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07A73FE7-F74B-44EF-1009-404ECC78B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Normal(B7:0C)- Repeat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824D69-C786-B0B5-4919-B992B4413301}"/>
              </a:ext>
            </a:extLst>
          </p:cNvPr>
          <p:cNvSpPr txBox="1"/>
          <p:nvPr/>
        </p:nvSpPr>
        <p:spPr>
          <a:xfrm>
            <a:off x="2895600" y="1508402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 pressure from 54 PSI to 57 PSI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EE18CF-5422-DB90-9EB1-8671C652289C}"/>
              </a:ext>
            </a:extLst>
          </p:cNvPr>
          <p:cNvCxnSpPr/>
          <p:nvPr/>
        </p:nvCxnSpPr>
        <p:spPr>
          <a:xfrm>
            <a:off x="608013" y="287655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3D8AF8-B481-AB98-C151-7C90A04D2732}"/>
              </a:ext>
            </a:extLst>
          </p:cNvPr>
          <p:cNvCxnSpPr/>
          <p:nvPr/>
        </p:nvCxnSpPr>
        <p:spPr>
          <a:xfrm flipV="1">
            <a:off x="608013" y="2571750"/>
            <a:ext cx="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733023-2ACB-99EA-5052-BC675C4A1FE9}"/>
              </a:ext>
            </a:extLst>
          </p:cNvPr>
          <p:cNvCxnSpPr/>
          <p:nvPr/>
        </p:nvCxnSpPr>
        <p:spPr>
          <a:xfrm>
            <a:off x="608013" y="257175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4633B5-709F-98BB-189A-B318F02AEFE8}"/>
              </a:ext>
            </a:extLst>
          </p:cNvPr>
          <p:cNvCxnSpPr/>
          <p:nvPr/>
        </p:nvCxnSpPr>
        <p:spPr>
          <a:xfrm flipV="1">
            <a:off x="8837613" y="2571750"/>
            <a:ext cx="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937A21-28D9-9E77-33C1-2D2AA56D0C30}"/>
              </a:ext>
            </a:extLst>
          </p:cNvPr>
          <p:cNvCxnSpPr/>
          <p:nvPr/>
        </p:nvCxnSpPr>
        <p:spPr>
          <a:xfrm>
            <a:off x="608013" y="440055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9DC6EA-8333-C9C9-EE9E-3228C8E24780}"/>
              </a:ext>
            </a:extLst>
          </p:cNvPr>
          <p:cNvCxnSpPr/>
          <p:nvPr/>
        </p:nvCxnSpPr>
        <p:spPr>
          <a:xfrm flipV="1">
            <a:off x="608013" y="4095750"/>
            <a:ext cx="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66DD77-F666-A94B-0E40-00CB91DC2D5C}"/>
              </a:ext>
            </a:extLst>
          </p:cNvPr>
          <p:cNvCxnSpPr/>
          <p:nvPr/>
        </p:nvCxnSpPr>
        <p:spPr>
          <a:xfrm>
            <a:off x="608013" y="4109168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8280048-9D90-122F-9AB2-A8B78BD9C6BD}"/>
              </a:ext>
            </a:extLst>
          </p:cNvPr>
          <p:cNvCxnSpPr/>
          <p:nvPr/>
        </p:nvCxnSpPr>
        <p:spPr>
          <a:xfrm>
            <a:off x="8837613" y="4109168"/>
            <a:ext cx="0" cy="2913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6857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06F014-C45F-FFD0-5D86-7AC3EE1166A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1308157" y="914400"/>
            <a:ext cx="6832486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3A364F29-2F07-2AFE-5C37-164FAC58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Normal(B7:0C)- Repeat</a:t>
            </a:r>
          </a:p>
        </p:txBody>
      </p:sp>
    </p:spTree>
    <p:extLst>
      <p:ext uri="{BB962C8B-B14F-4D97-AF65-F5344CB8AC3E}">
        <p14:creationId xmlns:p14="http://schemas.microsoft.com/office/powerpoint/2010/main" val="5542075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25CECA-1AE4-349C-E1A4-017E55B636D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1121017" y="914400"/>
            <a:ext cx="7206766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9B7DF0E6-450C-81C8-1775-E505C4FE0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Normal(B7:0C)- Repeat</a:t>
            </a:r>
          </a:p>
        </p:txBody>
      </p:sp>
    </p:spTree>
    <p:extLst>
      <p:ext uri="{BB962C8B-B14F-4D97-AF65-F5344CB8AC3E}">
        <p14:creationId xmlns:p14="http://schemas.microsoft.com/office/powerpoint/2010/main" val="16484260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C14D958-6388-A74D-C2D2-ABE956C9FEE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948122493"/>
              </p:ext>
            </p:extLst>
          </p:nvPr>
        </p:nvGraphicFramePr>
        <p:xfrm>
          <a:off x="609600" y="914400"/>
          <a:ext cx="8229600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376903228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419577431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1962103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46306623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46177558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3778833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51230476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915172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860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10:39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54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53.29 PSI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21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10:44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099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10:44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56.56 PSI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193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10:49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56.56 PSI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65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10:55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56.56 PSI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6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10:56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56.56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242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11:01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56.56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603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11:06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56.56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86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11:11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56.56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147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11:12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57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56.56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337213"/>
                  </a:ext>
                </a:extLst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39AE4511-D3F8-66F3-5308-7F4DA31A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Normal(48:81)- Repeat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6B58DF-B428-553A-9DE0-895FAF99F3BF}"/>
              </a:ext>
            </a:extLst>
          </p:cNvPr>
          <p:cNvSpPr txBox="1"/>
          <p:nvPr/>
        </p:nvSpPr>
        <p:spPr>
          <a:xfrm>
            <a:off x="2209800" y="1701285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 pressure from 54 PSI to 57 PSI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DD85D9-4C94-84FF-4794-F8078AABEC48}"/>
              </a:ext>
            </a:extLst>
          </p:cNvPr>
          <p:cNvCxnSpPr>
            <a:cxnSpLocks/>
          </p:cNvCxnSpPr>
          <p:nvPr/>
        </p:nvCxnSpPr>
        <p:spPr>
          <a:xfrm>
            <a:off x="608013" y="3105150"/>
            <a:ext cx="82311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90C2E9-13CF-6BAE-80A7-C648B4CF1EA0}"/>
              </a:ext>
            </a:extLst>
          </p:cNvPr>
          <p:cNvCxnSpPr>
            <a:cxnSpLocks/>
          </p:cNvCxnSpPr>
          <p:nvPr/>
        </p:nvCxnSpPr>
        <p:spPr>
          <a:xfrm flipV="1">
            <a:off x="608013" y="2800350"/>
            <a:ext cx="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698B8B-95F7-8335-6964-8B95FF6B4B4D}"/>
              </a:ext>
            </a:extLst>
          </p:cNvPr>
          <p:cNvCxnSpPr/>
          <p:nvPr/>
        </p:nvCxnSpPr>
        <p:spPr>
          <a:xfrm>
            <a:off x="608013" y="2800350"/>
            <a:ext cx="82311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26DCE5-F5D0-669E-DE60-51010A8653D8}"/>
              </a:ext>
            </a:extLst>
          </p:cNvPr>
          <p:cNvCxnSpPr>
            <a:cxnSpLocks/>
          </p:cNvCxnSpPr>
          <p:nvPr/>
        </p:nvCxnSpPr>
        <p:spPr>
          <a:xfrm>
            <a:off x="8839200" y="2800350"/>
            <a:ext cx="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7B0A596-7D82-CC12-AB20-DAAE4382C735}"/>
              </a:ext>
            </a:extLst>
          </p:cNvPr>
          <p:cNvCxnSpPr/>
          <p:nvPr/>
        </p:nvCxnSpPr>
        <p:spPr>
          <a:xfrm>
            <a:off x="608013" y="4552950"/>
            <a:ext cx="82311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242C7E-EDDD-A224-E854-140F8153DEB3}"/>
              </a:ext>
            </a:extLst>
          </p:cNvPr>
          <p:cNvCxnSpPr/>
          <p:nvPr/>
        </p:nvCxnSpPr>
        <p:spPr>
          <a:xfrm flipV="1">
            <a:off x="8839200" y="4324350"/>
            <a:ext cx="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F7AE65-3330-8B59-EE61-AC5116359A79}"/>
              </a:ext>
            </a:extLst>
          </p:cNvPr>
          <p:cNvCxnSpPr/>
          <p:nvPr/>
        </p:nvCxnSpPr>
        <p:spPr>
          <a:xfrm flipH="1">
            <a:off x="608013" y="4324350"/>
            <a:ext cx="82311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5327FF-9006-E04E-C1EE-A2D37703BD15}"/>
              </a:ext>
            </a:extLst>
          </p:cNvPr>
          <p:cNvCxnSpPr/>
          <p:nvPr/>
        </p:nvCxnSpPr>
        <p:spPr>
          <a:xfrm>
            <a:off x="608013" y="4324350"/>
            <a:ext cx="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64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732BBA-BB55-378C-8FAF-FAED67FD172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1095078" y="914400"/>
            <a:ext cx="7258643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6838B3BD-31F8-CE4D-DBCD-4F23DC828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Normal(48:81)- Repeat</a:t>
            </a:r>
          </a:p>
        </p:txBody>
      </p:sp>
    </p:spTree>
    <p:extLst>
      <p:ext uri="{BB962C8B-B14F-4D97-AF65-F5344CB8AC3E}">
        <p14:creationId xmlns:p14="http://schemas.microsoft.com/office/powerpoint/2010/main" val="41158274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B1D15F9-5FFA-166B-E0D6-41395FB62B9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1371600" y="914400"/>
            <a:ext cx="69342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51731231-004A-627E-2FFB-38189A62D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Normal to Monitoring to Normal(48:81)- Repeat</a:t>
            </a:r>
          </a:p>
        </p:txBody>
      </p:sp>
    </p:spTree>
    <p:extLst>
      <p:ext uri="{BB962C8B-B14F-4D97-AF65-F5344CB8AC3E}">
        <p14:creationId xmlns:p14="http://schemas.microsoft.com/office/powerpoint/2010/main" val="2316092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559C62-7D4C-FE37-5FC6-A9D33D74172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Normal Mode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dirty="0"/>
          </a:p>
          <a:p>
            <a:pPr lvl="1"/>
            <a:r>
              <a:rPr lang="en-US" dirty="0"/>
              <a:t>Both the Sensors advertised every 5 mins in Normal Mode as per the State Machine</a:t>
            </a:r>
          </a:p>
          <a:p>
            <a:r>
              <a:rPr lang="en-US" dirty="0"/>
              <a:t>Normal Mode to Monitoring Mode</a:t>
            </a:r>
            <a:r>
              <a:rPr lang="el-GR" b="0" dirty="0"/>
              <a:t> </a:t>
            </a:r>
            <a:r>
              <a:rPr lang="en-US" b="0" dirty="0"/>
              <a:t>(</a:t>
            </a:r>
            <a:r>
              <a:rPr lang="el-GR" b="0" dirty="0"/>
              <a:t>Δ</a:t>
            </a:r>
            <a:r>
              <a:rPr lang="en-US" b="0" dirty="0"/>
              <a:t>P&lt;5 PSI for 15 mins) </a:t>
            </a:r>
            <a:r>
              <a:rPr lang="en-US" dirty="0">
                <a:solidFill>
                  <a:srgbClr val="FF0000"/>
                </a:solidFill>
              </a:rPr>
              <a:t>X</a:t>
            </a:r>
          </a:p>
          <a:p>
            <a:pPr lvl="1"/>
            <a:r>
              <a:rPr lang="en-US" dirty="0"/>
              <a:t>Both the Sensors do not satisfy this condition</a:t>
            </a:r>
          </a:p>
          <a:p>
            <a:pPr lvl="1"/>
            <a:r>
              <a:rPr lang="en-US" dirty="0"/>
              <a:t>Why did the Sensor B7:0C enter Monitoring Mode at 10:54 AM? And 11:10 AM?</a:t>
            </a:r>
          </a:p>
          <a:p>
            <a:pPr lvl="1"/>
            <a:r>
              <a:rPr lang="en-US" dirty="0"/>
              <a:t>Why did the Sensor 48:81 enter Monitoring Mode at 10:55 AM? and 11:11 AM?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97A678-1C37-14CF-E571-99CA6D608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5306976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15CCF9-F563-8A0C-0104-DB76FFA8C39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865335139"/>
              </p:ext>
            </p:extLst>
          </p:nvPr>
        </p:nvGraphicFramePr>
        <p:xfrm>
          <a:off x="609600" y="914400"/>
          <a:ext cx="822960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75947634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09411393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8537746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60750861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0185819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1342733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96314297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3605810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153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8:53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84.48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795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9:18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84.48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902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9:22 AM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120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84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9:22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DELTA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119.65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383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9:37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120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119.65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48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9:38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119.65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490142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B1AE409-AA5B-0523-50CA-52DD141FF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Monitoring to Delta P to Monitoring(B7:0C)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4E34C-84F7-F739-2A4C-C595D4FE5C74}"/>
              </a:ext>
            </a:extLst>
          </p:cNvPr>
          <p:cNvSpPr txBox="1"/>
          <p:nvPr/>
        </p:nvSpPr>
        <p:spPr>
          <a:xfrm>
            <a:off x="2819400" y="2041128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Increased pressure from 85 PSI to 120 PSI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F635F1-FFDD-DB76-07A1-EF8D8771391A}"/>
              </a:ext>
            </a:extLst>
          </p:cNvPr>
          <p:cNvCxnSpPr/>
          <p:nvPr/>
        </p:nvCxnSpPr>
        <p:spPr>
          <a:xfrm>
            <a:off x="608014" y="3028950"/>
            <a:ext cx="82311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0138E6-3F04-24F2-E424-9385C4399EFA}"/>
              </a:ext>
            </a:extLst>
          </p:cNvPr>
          <p:cNvCxnSpPr/>
          <p:nvPr/>
        </p:nvCxnSpPr>
        <p:spPr>
          <a:xfrm flipV="1">
            <a:off x="608014" y="2800350"/>
            <a:ext cx="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029D40-E5D6-FC40-C530-6178F4378ADD}"/>
              </a:ext>
            </a:extLst>
          </p:cNvPr>
          <p:cNvCxnSpPr/>
          <p:nvPr/>
        </p:nvCxnSpPr>
        <p:spPr>
          <a:xfrm flipV="1">
            <a:off x="8839200" y="2800350"/>
            <a:ext cx="0" cy="228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8B515F-B71C-3AE5-AEE2-A4A956C906A2}"/>
              </a:ext>
            </a:extLst>
          </p:cNvPr>
          <p:cNvCxnSpPr>
            <a:cxnSpLocks/>
          </p:cNvCxnSpPr>
          <p:nvPr/>
        </p:nvCxnSpPr>
        <p:spPr>
          <a:xfrm>
            <a:off x="628650" y="2800350"/>
            <a:ext cx="823118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C0A920-6581-E482-E8C1-4C9E1415F246}"/>
              </a:ext>
            </a:extLst>
          </p:cNvPr>
          <p:cNvCxnSpPr/>
          <p:nvPr/>
        </p:nvCxnSpPr>
        <p:spPr>
          <a:xfrm flipH="1">
            <a:off x="304799" y="1809750"/>
            <a:ext cx="3238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A411094-6D66-A9E9-8102-C183622CAF08}"/>
              </a:ext>
            </a:extLst>
          </p:cNvPr>
          <p:cNvCxnSpPr/>
          <p:nvPr/>
        </p:nvCxnSpPr>
        <p:spPr>
          <a:xfrm>
            <a:off x="304799" y="1809750"/>
            <a:ext cx="0" cy="1524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7868C52-965D-000D-073F-4C3F2E595F55}"/>
              </a:ext>
            </a:extLst>
          </p:cNvPr>
          <p:cNvCxnSpPr/>
          <p:nvPr/>
        </p:nvCxnSpPr>
        <p:spPr>
          <a:xfrm>
            <a:off x="304799" y="3333750"/>
            <a:ext cx="30321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EF0524-9111-7099-843E-3C3AA0159207}"/>
              </a:ext>
            </a:extLst>
          </p:cNvPr>
          <p:cNvSpPr txBox="1"/>
          <p:nvPr/>
        </p:nvSpPr>
        <p:spPr>
          <a:xfrm>
            <a:off x="152400" y="3535680"/>
            <a:ext cx="3352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Expected Monitoring Mode at 9:43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6A65846-39D5-2CD3-7BA9-4C20AE9330C7}"/>
              </a:ext>
            </a:extLst>
          </p:cNvPr>
          <p:cNvCxnSpPr/>
          <p:nvPr/>
        </p:nvCxnSpPr>
        <p:spPr>
          <a:xfrm>
            <a:off x="304799" y="3333750"/>
            <a:ext cx="76201" cy="3048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6684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16F03D26-14CD-3AB9-9209-B8C2E1C89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Monitoring to Delta P to Monitoring(B7:0C)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9FDFCD-1DD1-979F-4CF9-A92765C0D5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025AB3-E0EC-09B1-852D-8E5F87146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70" y="781782"/>
            <a:ext cx="8688388" cy="379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667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D8995C-B1DE-9A5F-BB93-4958A41C798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990600" y="914400"/>
            <a:ext cx="7238999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56E4302A-18FB-E912-8770-F19D6753E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Monitoring to Delta P to Monitoring(B7:0C)</a:t>
            </a:r>
          </a:p>
        </p:txBody>
      </p:sp>
    </p:spTree>
    <p:extLst>
      <p:ext uri="{BB962C8B-B14F-4D97-AF65-F5344CB8AC3E}">
        <p14:creationId xmlns:p14="http://schemas.microsoft.com/office/powerpoint/2010/main" val="26600660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486D552-C5E2-6A5A-D4AA-BACDD2BC904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259097540"/>
              </p:ext>
            </p:extLst>
          </p:nvPr>
        </p:nvGraphicFramePr>
        <p:xfrm>
          <a:off x="609600" y="914400"/>
          <a:ext cx="822960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423826529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590982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51260656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40352720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57086501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453913295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1436944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801146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of packets </a:t>
                      </a:r>
                      <a:r>
                        <a:rPr lang="en-US" sz="1000" dirty="0" err="1"/>
                        <a:t>ch</a:t>
                      </a:r>
                      <a:r>
                        <a:rPr lang="en-US" sz="1000" dirty="0"/>
                        <a:t>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Pressure on 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 Delta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476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8:54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84.48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071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9:19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84.48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41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9:22 AM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120 PSI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112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9:22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DELTA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119.65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890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9:36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120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119.65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14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71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9:37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120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119.65 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522006"/>
                  </a:ext>
                </a:extLst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45891E9E-9B9C-214B-9901-CF5E73731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Monitoring to Delta P to Monitoring(48:81)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75E80D-3A39-D421-C2BB-5415624D5313}"/>
              </a:ext>
            </a:extLst>
          </p:cNvPr>
          <p:cNvSpPr txBox="1"/>
          <p:nvPr/>
        </p:nvSpPr>
        <p:spPr>
          <a:xfrm>
            <a:off x="2743200" y="2038351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 pressure from 85 PSI to 120 PSI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6A0C9A-A55D-8FA5-800E-2E32C26AF031}"/>
              </a:ext>
            </a:extLst>
          </p:cNvPr>
          <p:cNvCxnSpPr/>
          <p:nvPr/>
        </p:nvCxnSpPr>
        <p:spPr>
          <a:xfrm>
            <a:off x="608013" y="2800350"/>
            <a:ext cx="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1D33C4-4398-3B59-8F29-9815EFF205B6}"/>
              </a:ext>
            </a:extLst>
          </p:cNvPr>
          <p:cNvCxnSpPr/>
          <p:nvPr/>
        </p:nvCxnSpPr>
        <p:spPr>
          <a:xfrm>
            <a:off x="608013" y="3105150"/>
            <a:ext cx="82311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C40043-AE5B-1334-E110-088E1B99EAFB}"/>
              </a:ext>
            </a:extLst>
          </p:cNvPr>
          <p:cNvCxnSpPr/>
          <p:nvPr/>
        </p:nvCxnSpPr>
        <p:spPr>
          <a:xfrm>
            <a:off x="608013" y="2800350"/>
            <a:ext cx="823118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EB84A5-7917-2DDE-599E-40FB2529647A}"/>
              </a:ext>
            </a:extLst>
          </p:cNvPr>
          <p:cNvCxnSpPr/>
          <p:nvPr/>
        </p:nvCxnSpPr>
        <p:spPr>
          <a:xfrm>
            <a:off x="8839200" y="2800350"/>
            <a:ext cx="0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4A4812-333A-A3FD-68A3-2E05D4DFB279}"/>
              </a:ext>
            </a:extLst>
          </p:cNvPr>
          <p:cNvCxnSpPr/>
          <p:nvPr/>
        </p:nvCxnSpPr>
        <p:spPr>
          <a:xfrm flipH="1">
            <a:off x="228600" y="1809750"/>
            <a:ext cx="3794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3C6D766-A15C-733F-CD20-D8296217C12B}"/>
              </a:ext>
            </a:extLst>
          </p:cNvPr>
          <p:cNvCxnSpPr/>
          <p:nvPr/>
        </p:nvCxnSpPr>
        <p:spPr>
          <a:xfrm>
            <a:off x="228600" y="1809750"/>
            <a:ext cx="0" cy="1524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039E4B-85C3-911A-62F1-BD3DC1C6E8E0}"/>
              </a:ext>
            </a:extLst>
          </p:cNvPr>
          <p:cNvCxnSpPr/>
          <p:nvPr/>
        </p:nvCxnSpPr>
        <p:spPr>
          <a:xfrm>
            <a:off x="228600" y="3333750"/>
            <a:ext cx="37941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FE4E49-9D02-84BB-8F75-002F3F5E53F2}"/>
              </a:ext>
            </a:extLst>
          </p:cNvPr>
          <p:cNvCxnSpPr/>
          <p:nvPr/>
        </p:nvCxnSpPr>
        <p:spPr>
          <a:xfrm>
            <a:off x="228600" y="3333750"/>
            <a:ext cx="228600" cy="4572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335CE03-E632-78B5-DFB7-73A76B910CD7}"/>
              </a:ext>
            </a:extLst>
          </p:cNvPr>
          <p:cNvSpPr txBox="1"/>
          <p:nvPr/>
        </p:nvSpPr>
        <p:spPr>
          <a:xfrm>
            <a:off x="381000" y="3867150"/>
            <a:ext cx="190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Expected Monitoring Mode at 9:44 AM</a:t>
            </a:r>
          </a:p>
        </p:txBody>
      </p:sp>
    </p:spTree>
    <p:extLst>
      <p:ext uri="{BB962C8B-B14F-4D97-AF65-F5344CB8AC3E}">
        <p14:creationId xmlns:p14="http://schemas.microsoft.com/office/powerpoint/2010/main" val="28979263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F3F6A918-4A2D-39CD-7C19-82675DBDB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Monitoring to Delta P to Monitoring(48:81)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608B603-9254-D39C-254A-96528E0DD4F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844438" y="914400"/>
            <a:ext cx="7759923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376049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43B74E-E808-8EBF-0AB4-1330CB5D57E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 bwMode="auto">
          <a:xfrm>
            <a:off x="762000" y="914400"/>
            <a:ext cx="78486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C16962DA-D145-F78A-065C-8C42A4D16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3" y="0"/>
            <a:ext cx="8231187" cy="760413"/>
          </a:xfrm>
        </p:spPr>
        <p:txBody>
          <a:bodyPr/>
          <a:lstStyle/>
          <a:p>
            <a:r>
              <a:rPr lang="en-US" sz="2400" dirty="0"/>
              <a:t>Monitoring to Delta P to Monitoring(48:81)</a:t>
            </a:r>
          </a:p>
        </p:txBody>
      </p:sp>
    </p:spTree>
    <p:extLst>
      <p:ext uri="{BB962C8B-B14F-4D97-AF65-F5344CB8AC3E}">
        <p14:creationId xmlns:p14="http://schemas.microsoft.com/office/powerpoint/2010/main" val="34105131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2AA649-2992-B2B0-88C4-F3D1031F64F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Monitoring Mode </a:t>
            </a:r>
            <a:r>
              <a:rPr lang="en-US" dirty="0">
                <a:solidFill>
                  <a:srgbClr val="FF0000"/>
                </a:solidFill>
              </a:rPr>
              <a:t>X</a:t>
            </a:r>
          </a:p>
          <a:p>
            <a:pPr lvl="1"/>
            <a:r>
              <a:rPr lang="en-US" dirty="0"/>
              <a:t>Why did the Sensor B7:0C transmit Monitoring Mode packets at 9:38 AM instead of 9:43 AM?</a:t>
            </a:r>
          </a:p>
          <a:p>
            <a:pPr lvl="1"/>
            <a:r>
              <a:rPr lang="en-US" dirty="0"/>
              <a:t>Why did the Sensor 48:81 transmit Monitoring Mode packets at 9:37 AM instead of 9:44 AM? </a:t>
            </a:r>
          </a:p>
          <a:p>
            <a:r>
              <a:rPr lang="en-US" dirty="0"/>
              <a:t>Monitoring Mode to Delta P Mode 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r>
              <a:rPr lang="en-US" dirty="0"/>
              <a:t>Both the Sensors enter Delta P Mode when a </a:t>
            </a:r>
            <a:r>
              <a:rPr lang="el-GR" dirty="0"/>
              <a:t>Δ</a:t>
            </a:r>
            <a:r>
              <a:rPr lang="en-US" dirty="0"/>
              <a:t>P&gt;=30 PSI is applied while in Monitoring Mode</a:t>
            </a:r>
          </a:p>
          <a:p>
            <a:r>
              <a:rPr lang="en-US" dirty="0"/>
              <a:t>Delta P Mode to Monitoring Mode </a:t>
            </a:r>
            <a:r>
              <a:rPr lang="en-US" dirty="0">
                <a:solidFill>
                  <a:srgbClr val="FF0000"/>
                </a:solidFill>
              </a:rPr>
              <a:t>X</a:t>
            </a:r>
          </a:p>
          <a:p>
            <a:pPr lvl="1"/>
            <a:r>
              <a:rPr lang="en-US" dirty="0"/>
              <a:t>Why did the Sensor B7:0C first enter Normal Mode at 9:37 AM before returning to Monitoring Mode at 9:38 AM?</a:t>
            </a:r>
          </a:p>
          <a:p>
            <a:pPr lvl="1"/>
            <a:r>
              <a:rPr lang="en-US" dirty="0"/>
              <a:t>Why did the Sensor 48:81 enter Normal Mode at 9:36 AM before returning to Monitoring Mode at 9:37 AM?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376B2E-C168-7B10-84DB-8BF57FD64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8133959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988113"/>
      </p:ext>
    </p:extLst>
  </p:cSld>
  <p:clrMapOvr>
    <a:masterClrMapping/>
  </p:clrMapOvr>
</p:sld>
</file>

<file path=ppt/theme/theme1.xml><?xml version="1.0" encoding="utf-8"?>
<a:theme xmlns:a="http://schemas.openxmlformats.org/drawingml/2006/main" name="2023 layout">
  <a:themeElements>
    <a:clrScheme name="Hendrickso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F7F7F"/>
      </a:accent1>
      <a:accent2>
        <a:srgbClr val="A30B35"/>
      </a:accent2>
      <a:accent3>
        <a:srgbClr val="6B8383"/>
      </a:accent3>
      <a:accent4>
        <a:srgbClr val="997200"/>
      </a:accent4>
      <a:accent5>
        <a:srgbClr val="5F5F5F"/>
      </a:accent5>
      <a:accent6>
        <a:srgbClr val="A5A5A5"/>
      </a:accent6>
      <a:hlink>
        <a:srgbClr val="333399"/>
      </a:hlink>
      <a:folHlink>
        <a:srgbClr val="00B0F0"/>
      </a:folHlink>
    </a:clrScheme>
    <a:fontScheme name="2008 Template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Hendrickson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7F7F7F"/>
        </a:accent1>
        <a:accent2>
          <a:srgbClr val="A30B35"/>
        </a:accent2>
        <a:accent3>
          <a:srgbClr val="6B8383"/>
        </a:accent3>
        <a:accent4>
          <a:srgbClr val="997200"/>
        </a:accent4>
        <a:accent5>
          <a:srgbClr val="5F5F5F"/>
        </a:accent5>
        <a:accent6>
          <a:srgbClr val="A5A5A5"/>
        </a:accent6>
        <a:hlink>
          <a:srgbClr val="333399"/>
        </a:hlink>
        <a:folHlink>
          <a:srgbClr val="00B0F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8" id="{25FD69F1-E304-4C18-ABB6-48673626C9B3}" vid="{8BDC659C-673A-414E-8EDF-0B32C1EF82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5cf16e-e46d-4f5f-bc19-8a3aefce5ab0">
      <Terms xmlns="http://schemas.microsoft.com/office/infopath/2007/PartnerControls"/>
    </lcf76f155ced4ddcb4097134ff3c332f>
    <TaxCatchAll xmlns="af55f5a4-2313-4676-b895-7e265f2524a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E4945B82D41B48A7C84F7BECB765F2" ma:contentTypeVersion="18" ma:contentTypeDescription="Create a new document." ma:contentTypeScope="" ma:versionID="f0f2f310b0eb506b94b11579c43a0a90">
  <xsd:schema xmlns:xsd="http://www.w3.org/2001/XMLSchema" xmlns:xs="http://www.w3.org/2001/XMLSchema" xmlns:p="http://schemas.microsoft.com/office/2006/metadata/properties" xmlns:ns1="http://schemas.microsoft.com/sharepoint/v3" xmlns:ns2="885cf16e-e46d-4f5f-bc19-8a3aefce5ab0" xmlns:ns3="af55f5a4-2313-4676-b895-7e265f2524aa" targetNamespace="http://schemas.microsoft.com/office/2006/metadata/properties" ma:root="true" ma:fieldsID="04295579f1612aa1c4a24be4a23034b7" ns1:_="" ns2:_="" ns3:_="">
    <xsd:import namespace="http://schemas.microsoft.com/sharepoint/v3"/>
    <xsd:import namespace="885cf16e-e46d-4f5f-bc19-8a3aefce5ab0"/>
    <xsd:import namespace="af55f5a4-2313-4676-b895-7e265f2524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cf16e-e46d-4f5f-bc19-8a3aefce5a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81fe18c-ff33-4e95-9c60-c8177e09d3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55f5a4-2313-4676-b895-7e265f2524a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10960c3-4b4b-4023-a32b-0f0e2ba4120e}" ma:internalName="TaxCatchAll" ma:showField="CatchAllData" ma:web="af55f5a4-2313-4676-b895-7e265f2524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60A554-D8CA-438D-9B42-EC1EB02879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A8A129-5598-449B-BABE-E0DA06B19CDE}">
  <ds:schemaRefs>
    <ds:schemaRef ds:uri="af55f5a4-2313-4676-b895-7e265f2524aa"/>
    <ds:schemaRef ds:uri="http://purl.org/dc/elements/1.1/"/>
    <ds:schemaRef ds:uri="885cf16e-e46d-4f5f-bc19-8a3aefce5ab0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623FB0FA-7A21-46AF-99E8-EBABF451E2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85cf16e-e46d-4f5f-bc19-8a3aefce5ab0"/>
    <ds:schemaRef ds:uri="af55f5a4-2313-4676-b895-7e265f2524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90331e72-0c95-4d61-84c9-bae0df156178}" enabled="0" method="" siteId="{90331e72-0c95-4d61-84c9-bae0df15617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11059</TotalTime>
  <Words>2764</Words>
  <Application>Microsoft Office PowerPoint</Application>
  <PresentationFormat>如螢幕大小 (16:9)</PresentationFormat>
  <Paragraphs>984</Paragraphs>
  <Slides>49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49</vt:i4>
      </vt:variant>
    </vt:vector>
  </HeadingPairs>
  <TitlesOfParts>
    <vt:vector size="56" baseType="lpstr">
      <vt:lpstr>Arial MT</vt:lpstr>
      <vt:lpstr>Arial</vt:lpstr>
      <vt:lpstr>Calibri</vt:lpstr>
      <vt:lpstr>Tahoma</vt:lpstr>
      <vt:lpstr>Times New Roman</vt:lpstr>
      <vt:lpstr>Wingdings</vt:lpstr>
      <vt:lpstr>2023 layout</vt:lpstr>
      <vt:lpstr>BSE-18T State Machine Validation</vt:lpstr>
      <vt:lpstr>State Machine </vt:lpstr>
      <vt:lpstr>INTRODUCTION</vt:lpstr>
      <vt:lpstr>TEST SETUP</vt:lpstr>
      <vt:lpstr>STANDBY to NORMAL to STANDBY(B7:0C)</vt:lpstr>
      <vt:lpstr>STANDBY to NORMAL to STANDBY(B7:0C)</vt:lpstr>
      <vt:lpstr>STANDBY to NORMAL to STANDBY(B7:0C)</vt:lpstr>
      <vt:lpstr>STANDBY to NORMAL to STANDBY(48:81) </vt:lpstr>
      <vt:lpstr>STANDBY to NORMAL to STANDBY(48:81) </vt:lpstr>
      <vt:lpstr>STANDBY to NORMAL to STANDBY(48:81) </vt:lpstr>
      <vt:lpstr>Conclusion</vt:lpstr>
      <vt:lpstr>Normal to Delta P to Normal(B7:0C)</vt:lpstr>
      <vt:lpstr>Normal to Delta P to Normal(B7:0C)</vt:lpstr>
      <vt:lpstr>Normal to Delta P to Normal(B7:0C)</vt:lpstr>
      <vt:lpstr>Normal to Delta P to Normal(48:81)</vt:lpstr>
      <vt:lpstr>Normal to Delta P to Normal(48:81)</vt:lpstr>
      <vt:lpstr>Conclusion</vt:lpstr>
      <vt:lpstr>Normal to Monitoring to Normal(B7:0C)</vt:lpstr>
      <vt:lpstr>Normal to Monitoring to Normal(B7:0C)</vt:lpstr>
      <vt:lpstr>Normal to Monitoring to Normal(B7:0C)</vt:lpstr>
      <vt:lpstr>Normal to Monitoring to Normal(B7:0C)</vt:lpstr>
      <vt:lpstr>Normal to Monitoring to Normal(48:81)</vt:lpstr>
      <vt:lpstr>Normal to Monitoring to Normal(48:81)</vt:lpstr>
      <vt:lpstr>Normal to Monitoring to Normal(48:81)</vt:lpstr>
      <vt:lpstr>Conclusion</vt:lpstr>
      <vt:lpstr>Normal to Monitoring to Normal(B7:0C)</vt:lpstr>
      <vt:lpstr>Normal to Monitoring to Normal(B7:0C)</vt:lpstr>
      <vt:lpstr>Normal to Monitoring to Normal(B7:0C)</vt:lpstr>
      <vt:lpstr>Normal to Monitoring to Normal(B7:0C)</vt:lpstr>
      <vt:lpstr>Normal to Monitoring to Normal(48:81)</vt:lpstr>
      <vt:lpstr>Normal to Monitoring to Normal(48:81)</vt:lpstr>
      <vt:lpstr>Normal to Monitoring to Normal(48:81)</vt:lpstr>
      <vt:lpstr>Normal to Monitoring to Normal(48:81)</vt:lpstr>
      <vt:lpstr>Conclusion</vt:lpstr>
      <vt:lpstr>Normal to Monitoring to Normal(B7:0C)- Repeat</vt:lpstr>
      <vt:lpstr>Normal to Monitoring to Normal(B7:0C)- Repeat</vt:lpstr>
      <vt:lpstr>Normal to Monitoring to Normal(B7:0C)- Repeat</vt:lpstr>
      <vt:lpstr>Normal to Monitoring to Normal(48:81)- Repeat</vt:lpstr>
      <vt:lpstr>Normal to Monitoring to Normal(48:81)- Repeat</vt:lpstr>
      <vt:lpstr>Normal to Monitoring to Normal(48:81)- Repeat</vt:lpstr>
      <vt:lpstr>Conclusion</vt:lpstr>
      <vt:lpstr>Monitoring to Delta P to Monitoring(B7:0C)</vt:lpstr>
      <vt:lpstr>Monitoring to Delta P to Monitoring(B7:0C)</vt:lpstr>
      <vt:lpstr>Monitoring to Delta P to Monitoring(B7:0C)</vt:lpstr>
      <vt:lpstr>Monitoring to Delta P to Monitoring(48:81)</vt:lpstr>
      <vt:lpstr>Monitoring to Delta P to Monitoring(48:81)</vt:lpstr>
      <vt:lpstr>Monitoring to Delta P to Monitoring(48:81)</vt:lpstr>
      <vt:lpstr>Conclusion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STDUser</dc:creator>
  <cp:lastModifiedBy>ThomasChiu-邱世淦</cp:lastModifiedBy>
  <cp:revision>103</cp:revision>
  <dcterms:created xsi:type="dcterms:W3CDTF">2018-11-16T18:31:09Z</dcterms:created>
  <dcterms:modified xsi:type="dcterms:W3CDTF">2025-11-04T06:02:05Z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0x0101008DE4945B82D41B48A7C84F7BECB765F2</vt:lpwstr>
  </property>
  <property fmtid="{D5CDD505-2E9C-101B-9397-08002B2CF9AE}" pid="3" name="MediaServiceImageTags">
    <vt:lpwstr/>
  </property>
</Properties>
</file>